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74" r:id="rId9"/>
    <p:sldId id="273" r:id="rId10"/>
    <p:sldId id="263" r:id="rId11"/>
    <p:sldId id="264" r:id="rId12"/>
    <p:sldId id="265" r:id="rId13"/>
    <p:sldId id="266" r:id="rId14"/>
    <p:sldId id="272"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5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23io10pr45@mitsgwl.ac.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watsonx.ai”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2"/>
          <p:cNvSpPr txBox="1"/>
          <p:nvPr/>
        </p:nvSpPr>
        <p:spPr>
          <a:xfrm>
            <a:off x="1102321" y="1098436"/>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670488745"/>
              </p:ext>
            </p:extLst>
          </p:nvPr>
        </p:nvGraphicFramePr>
        <p:xfrm>
          <a:off x="523240" y="2578213"/>
          <a:ext cx="11145519" cy="2830218"/>
        </p:xfrm>
        <a:graphic>
          <a:graphicData uri="http://schemas.openxmlformats.org/drawingml/2006/table">
            <a:tbl>
              <a:tblPr>
                <a:noFill/>
                <a:tableStyleId>{F063BE5B-8E01-4B91-9C5C-8479B17E1E5F}</a:tableStyleId>
              </a:tblPr>
              <a:tblGrid>
                <a:gridCol w="2449612">
                  <a:extLst>
                    <a:ext uri="{9D8B030D-6E8A-4147-A177-3AD203B41FA5}">
                      <a16:colId xmlns:a16="http://schemas.microsoft.com/office/drawing/2014/main" val="20000"/>
                    </a:ext>
                  </a:extLst>
                </a:gridCol>
                <a:gridCol w="2898636">
                  <a:extLst>
                    <a:ext uri="{9D8B030D-6E8A-4147-A177-3AD203B41FA5}">
                      <a16:colId xmlns:a16="http://schemas.microsoft.com/office/drawing/2014/main" val="20001"/>
                    </a:ext>
                  </a:extLst>
                </a:gridCol>
                <a:gridCol w="3476588">
                  <a:extLst>
                    <a:ext uri="{9D8B030D-6E8A-4147-A177-3AD203B41FA5}">
                      <a16:colId xmlns:a16="http://schemas.microsoft.com/office/drawing/2014/main" val="20002"/>
                    </a:ext>
                  </a:extLst>
                </a:gridCol>
                <a:gridCol w="2320683">
                  <a:extLst>
                    <a:ext uri="{9D8B030D-6E8A-4147-A177-3AD203B41FA5}">
                      <a16:colId xmlns:a16="http://schemas.microsoft.com/office/drawing/2014/main" val="20003"/>
                    </a:ext>
                  </a:extLst>
                </a:gridCol>
              </a:tblGrid>
              <a:tr h="909968">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Recent Passport Photo</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Arial"/>
                          <a:cs typeface="Arial"/>
                          <a:sym typeface="Arial"/>
                        </a:rPr>
                        <a:t>Email ID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Mobile number</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[WhatsApp]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400"/>
                        <a:buFont typeface="Arial"/>
                        <a:buNone/>
                      </a:pPr>
                      <a:endParaRPr lang="en-IN" sz="20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20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20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a:t>Preeti Gautam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AICTE - </a:t>
                      </a:r>
                      <a:r>
                        <a:rPr lang="en-IN" sz="2000" u="none" strike="noStrike" cap="none" dirty="0">
                          <a:hlinkClick r:id="rId3"/>
                        </a:rPr>
                        <a:t>23io10pr45@mitsgwl.ac.in</a:t>
                      </a:r>
                      <a:endParaRPr lang="en-IN" sz="2000" u="none" strike="noStrike" cap="none" dirty="0"/>
                    </a:p>
                    <a:p>
                      <a:pPr marL="0" marR="0" lvl="0" indent="0" algn="l" rtl="0">
                        <a:lnSpc>
                          <a:spcPct val="100000"/>
                        </a:lnSpc>
                        <a:spcBef>
                          <a:spcPts val="0"/>
                        </a:spcBef>
                        <a:spcAft>
                          <a:spcPts val="0"/>
                        </a:spcAft>
                        <a:buClr>
                          <a:srgbClr val="000000"/>
                        </a:buClr>
                        <a:buSzPts val="1400"/>
                        <a:buFont typeface="Arial"/>
                        <a:buNone/>
                      </a:pPr>
                      <a:endParaRPr lang="en-IN" sz="2000" u="none" strike="noStrike" cap="none" dirty="0"/>
                    </a:p>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IBM </a:t>
                      </a:r>
                      <a:r>
                        <a:rPr lang="en-IN" sz="2000" u="none" strike="noStrike" cap="none" dirty="0" err="1"/>
                        <a:t>SkillsBuild</a:t>
                      </a:r>
                      <a:r>
                        <a:rPr lang="en-IN" sz="2000" u="none" strike="noStrike" cap="none" dirty="0"/>
                        <a:t>- </a:t>
                      </a:r>
                    </a:p>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gautampreeti690@gmail.com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20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2000" u="none" strike="noStrike" cap="none" dirty="0"/>
                        <a:t>9770068601</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384521"/>
            <a:ext cx="10280254"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Domain of  Project – Education / Career Development</a:t>
            </a:r>
            <a:endParaRPr sz="28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1206162" y="475762"/>
            <a:ext cx="9581177"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chemeClr val="tx1"/>
                </a:solidFill>
                <a:latin typeface="Arial"/>
                <a:ea typeface="Arial"/>
                <a:cs typeface="Arial"/>
                <a:sym typeface="Arial"/>
              </a:rPr>
              <a:t>Project Tile – </a:t>
            </a:r>
            <a:r>
              <a:rPr lang="en-US" sz="2000" b="1" i="0" u="none" strike="noStrike" cap="none" dirty="0" err="1">
                <a:solidFill>
                  <a:schemeClr val="tx1"/>
                </a:solidFill>
                <a:latin typeface="Arial"/>
                <a:ea typeface="Times New Roman"/>
                <a:cs typeface="Times New Roman"/>
                <a:sym typeface="Times New Roman"/>
              </a:rPr>
              <a:t>InterviewMate</a:t>
            </a:r>
            <a:r>
              <a:rPr lang="en-US" sz="2000" b="1" i="0" u="none" strike="noStrike" cap="none" dirty="0">
                <a:solidFill>
                  <a:schemeClr val="tx1"/>
                </a:solidFill>
                <a:latin typeface="Arial"/>
                <a:ea typeface="Times New Roman"/>
                <a:cs typeface="Times New Roman"/>
                <a:sym typeface="Times New Roman"/>
              </a:rPr>
              <a:t> : Agentic AI Interview Trainer</a:t>
            </a:r>
            <a:endParaRPr sz="2800" b="1" i="0" u="none" strike="noStrike" cap="none" dirty="0">
              <a:solidFill>
                <a:schemeClr val="tx1"/>
              </a:solidFill>
              <a:latin typeface="Arial"/>
              <a:ea typeface="Arial"/>
              <a:cs typeface="Arial"/>
              <a:sym typeface="Arial"/>
            </a:endParaRPr>
          </a:p>
        </p:txBody>
      </p:sp>
      <p:pic>
        <p:nvPicPr>
          <p:cNvPr id="2" name="Picture 1">
            <a:extLst>
              <a:ext uri="{FF2B5EF4-FFF2-40B4-BE49-F238E27FC236}">
                <a16:creationId xmlns:a16="http://schemas.microsoft.com/office/drawing/2014/main" id="{1931E4AB-A0CE-316B-6BFE-5DB1AC123017}"/>
              </a:ext>
            </a:extLst>
          </p:cNvPr>
          <p:cNvPicPr>
            <a:picLocks noChangeAspect="1"/>
          </p:cNvPicPr>
          <p:nvPr/>
        </p:nvPicPr>
        <p:blipFill>
          <a:blip r:embed="rId4"/>
          <a:srcRect t="1770" r="9115" b="29332"/>
          <a:stretch>
            <a:fillRect/>
          </a:stretch>
        </p:blipFill>
        <p:spPr>
          <a:xfrm>
            <a:off x="3776225" y="3594246"/>
            <a:ext cx="1359077" cy="16821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149808" y="658846"/>
            <a:ext cx="11892384" cy="658637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Problem Statement : Interview Trainer Agent</a:t>
            </a:r>
            <a:r>
              <a:rPr lang="en-US" sz="2000" b="0" i="0" u="none" strike="noStrike" cap="none" dirty="0">
                <a:solidFill>
                  <a:srgbClr val="000000"/>
                </a:solidFill>
                <a:latin typeface="Arial"/>
                <a:ea typeface="Arial"/>
                <a:cs typeface="Arial"/>
                <a:sym typeface="Arial"/>
              </a:rPr>
              <a:t> </a:t>
            </a:r>
            <a:endParaRPr lang="en-IN" sz="1600" dirty="0"/>
          </a:p>
          <a:p>
            <a:pPr marL="0" marR="0" lvl="0" indent="0" algn="just" rtl="0">
              <a:lnSpc>
                <a:spcPct val="100000"/>
              </a:lnSpc>
              <a:spcBef>
                <a:spcPts val="0"/>
              </a:spcBef>
              <a:spcAft>
                <a:spcPts val="0"/>
              </a:spcAft>
              <a:buNone/>
            </a:pPr>
            <a:endParaRPr lang="en-IN" sz="1200" b="1"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The Challenge</a:t>
            </a:r>
            <a:r>
              <a:rPr lang="en-US" sz="2000" b="0" i="0" u="none" strike="noStrike" cap="none" dirty="0">
                <a:solidFill>
                  <a:srgbClr val="000000"/>
                </a:solidFill>
                <a:latin typeface="Arial"/>
                <a:ea typeface="Arial"/>
                <a:cs typeface="Arial"/>
                <a:sym typeface="Arial"/>
              </a:rPr>
              <a:t> </a:t>
            </a:r>
            <a:endParaRPr sz="1600"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Students struggle to prepare for </a:t>
            </a:r>
            <a:r>
              <a:rPr lang="en-US" sz="2000" b="1" i="0" u="none" strike="noStrike" cap="none" dirty="0">
                <a:solidFill>
                  <a:srgbClr val="000000"/>
                </a:solidFill>
                <a:latin typeface="Arial"/>
                <a:ea typeface="Arial"/>
                <a:cs typeface="Arial"/>
                <a:sym typeface="Arial"/>
              </a:rPr>
              <a:t>job interviews, role-specific questions, and behavioral rounds</a:t>
            </a:r>
            <a:r>
              <a:rPr lang="en-US" sz="2000" b="0" i="0" u="none" strike="noStrike" cap="none" dirty="0">
                <a:solidFill>
                  <a:srgbClr val="000000"/>
                </a:solidFill>
                <a:latin typeface="Arial"/>
                <a:ea typeface="Arial"/>
                <a:cs typeface="Arial"/>
                <a:sym typeface="Arial"/>
              </a:rPr>
              <a:t>. Guidance is scattered and inconsistent, leaving candidates underprepared without </a:t>
            </a:r>
            <a:r>
              <a:rPr lang="en-US" sz="2000" b="1" i="0" u="none" strike="noStrike" cap="none" dirty="0">
                <a:solidFill>
                  <a:srgbClr val="000000"/>
                </a:solidFill>
                <a:latin typeface="Arial"/>
                <a:ea typeface="Arial"/>
                <a:cs typeface="Arial"/>
                <a:sym typeface="Arial"/>
              </a:rPr>
              <a:t>personalized, real-time coaching</a:t>
            </a:r>
            <a:r>
              <a:rPr lang="en-US" sz="2000" b="0" i="0" u="none" strike="noStrike" cap="none" dirty="0">
                <a:solidFill>
                  <a:srgbClr val="000000"/>
                </a:solidFill>
                <a:latin typeface="Arial"/>
                <a:ea typeface="Arial"/>
                <a:cs typeface="Arial"/>
                <a:sym typeface="Arial"/>
              </a:rPr>
              <a:t>. </a:t>
            </a:r>
            <a:endParaRPr lang="en-IN" sz="1600" dirty="0"/>
          </a:p>
          <a:p>
            <a:pPr marL="0" marR="0" lvl="0" indent="0" algn="just" rtl="0">
              <a:lnSpc>
                <a:spcPct val="100000"/>
              </a:lnSpc>
              <a:spcBef>
                <a:spcPts val="0"/>
              </a:spcBef>
              <a:spcAft>
                <a:spcPts val="0"/>
              </a:spcAft>
              <a:buNone/>
            </a:pPr>
            <a:endParaRPr lang="en-IN"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The Objective</a:t>
            </a:r>
            <a:r>
              <a:rPr lang="en-US" sz="2000" b="0" i="0" u="none" strike="noStrike" cap="none" dirty="0">
                <a:solidFill>
                  <a:srgbClr val="000000"/>
                </a:solidFill>
                <a:latin typeface="Arial"/>
                <a:ea typeface="Arial"/>
                <a:cs typeface="Arial"/>
                <a:sym typeface="Arial"/>
              </a:rPr>
              <a:t> </a:t>
            </a:r>
            <a:endParaRPr sz="1600"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Build an </a:t>
            </a:r>
            <a:r>
              <a:rPr lang="en-US" sz="2000" b="1" i="0" u="none" strike="noStrike" cap="none" dirty="0">
                <a:solidFill>
                  <a:srgbClr val="000000"/>
                </a:solidFill>
                <a:latin typeface="Arial"/>
                <a:ea typeface="Arial"/>
                <a:cs typeface="Arial"/>
                <a:sym typeface="Arial"/>
              </a:rPr>
              <a:t>AI-powered Interview Trainer Agent</a:t>
            </a:r>
            <a:r>
              <a:rPr lang="en-US" sz="2000" b="0" i="0" u="none" strike="noStrike" cap="none" dirty="0">
                <a:solidFill>
                  <a:srgbClr val="000000"/>
                </a:solidFill>
                <a:latin typeface="Arial"/>
                <a:ea typeface="Arial"/>
                <a:cs typeface="Arial"/>
                <a:sym typeface="Arial"/>
              </a:rPr>
              <a:t> that delivers </a:t>
            </a:r>
            <a:r>
              <a:rPr lang="en-US" sz="2000" b="1" i="0" u="none" strike="noStrike" cap="none" dirty="0">
                <a:solidFill>
                  <a:srgbClr val="000000"/>
                </a:solidFill>
                <a:latin typeface="Arial"/>
                <a:ea typeface="Arial"/>
                <a:cs typeface="Arial"/>
                <a:sym typeface="Arial"/>
              </a:rPr>
              <a:t>personalized, role-specific interview coaching</a:t>
            </a:r>
            <a:r>
              <a:rPr lang="en-US" sz="2000" b="0" i="0" u="none" strike="noStrike" cap="none" dirty="0">
                <a:solidFill>
                  <a:srgbClr val="000000"/>
                </a:solidFill>
                <a:latin typeface="Arial"/>
                <a:ea typeface="Arial"/>
                <a:cs typeface="Arial"/>
                <a:sym typeface="Arial"/>
              </a:rPr>
              <a:t> for placement coaching: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Role-Specific Question Generation</a:t>
            </a:r>
            <a:r>
              <a:rPr lang="en-US" sz="2000" b="0" i="0" u="none" strike="noStrike" cap="none" dirty="0">
                <a:solidFill>
                  <a:srgbClr val="000000"/>
                </a:solidFill>
                <a:latin typeface="Arial"/>
                <a:ea typeface="Arial"/>
                <a:cs typeface="Arial"/>
                <a:sym typeface="Arial"/>
              </a:rPr>
              <a:t> – Generates questions based on role and resume.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Interview Data RAG Retrieval</a:t>
            </a:r>
            <a:r>
              <a:rPr lang="en-US" sz="2000" b="0" i="0" u="none" strike="noStrike" cap="none" dirty="0">
                <a:solidFill>
                  <a:srgbClr val="000000"/>
                </a:solidFill>
                <a:latin typeface="Arial"/>
                <a:ea typeface="Arial"/>
                <a:cs typeface="Arial"/>
                <a:sym typeface="Arial"/>
              </a:rPr>
              <a:t> – Fetches questions and HR guidelines from trusted sources.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Mock Interview &amp; Feedback</a:t>
            </a:r>
            <a:r>
              <a:rPr lang="en-US" sz="2000" b="0" i="0" u="none" strike="noStrike" cap="none" dirty="0">
                <a:solidFill>
                  <a:srgbClr val="000000"/>
                </a:solidFill>
                <a:latin typeface="Arial"/>
                <a:ea typeface="Arial"/>
                <a:cs typeface="Arial"/>
                <a:sym typeface="Arial"/>
              </a:rPr>
              <a:t> – Lets users answer questions and get instant evaluation.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Soft Skill &amp; Technical Assessment</a:t>
            </a:r>
            <a:r>
              <a:rPr lang="en-US" sz="2000" b="0" i="0" u="none" strike="noStrike" cap="none" dirty="0">
                <a:solidFill>
                  <a:srgbClr val="000000"/>
                </a:solidFill>
                <a:latin typeface="Arial"/>
                <a:ea typeface="Arial"/>
                <a:cs typeface="Arial"/>
                <a:sym typeface="Arial"/>
              </a:rPr>
              <a:t> – Covers both behavioral and technical rounds.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Multi-Agent System</a:t>
            </a:r>
            <a:r>
              <a:rPr lang="en-US" sz="2000" b="0" i="0" u="none" strike="noStrike" cap="none" dirty="0">
                <a:solidFill>
                  <a:srgbClr val="000000"/>
                </a:solidFill>
                <a:latin typeface="Arial"/>
                <a:ea typeface="Arial"/>
                <a:cs typeface="Arial"/>
                <a:sym typeface="Arial"/>
              </a:rPr>
              <a:t> –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Question Bank Agent</a:t>
            </a:r>
            <a:r>
              <a:rPr lang="en-US" sz="2000" b="0" i="0" u="none" strike="noStrike" cap="none" dirty="0">
                <a:solidFill>
                  <a:srgbClr val="000000"/>
                </a:solidFill>
                <a:latin typeface="Arial"/>
                <a:ea typeface="Arial"/>
                <a:cs typeface="Arial"/>
                <a:sym typeface="Arial"/>
              </a:rPr>
              <a:t> (retrieves relevant questions)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Resume Analysis Agent</a:t>
            </a:r>
            <a:r>
              <a:rPr lang="en-US" sz="2000" b="0" i="0" u="none" strike="noStrike" cap="none" dirty="0">
                <a:solidFill>
                  <a:srgbClr val="000000"/>
                </a:solidFill>
                <a:latin typeface="Arial"/>
                <a:ea typeface="Arial"/>
                <a:cs typeface="Arial"/>
                <a:sym typeface="Arial"/>
              </a:rPr>
              <a:t> (extracts resume skills)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Mock Interview Agent</a:t>
            </a:r>
            <a:r>
              <a:rPr lang="en-US" sz="2000" b="0" i="0" u="none" strike="noStrike" cap="none" dirty="0">
                <a:solidFill>
                  <a:srgbClr val="000000"/>
                </a:solidFill>
                <a:latin typeface="Arial"/>
                <a:ea typeface="Arial"/>
                <a:cs typeface="Arial"/>
                <a:sym typeface="Arial"/>
              </a:rPr>
              <a:t> (runs Q&amp;A and gives model answers)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Feedback &amp; Scoring Agent</a:t>
            </a:r>
            <a:r>
              <a:rPr lang="en-US" sz="2000" b="0" i="0" u="none" strike="noStrike" cap="none" dirty="0">
                <a:solidFill>
                  <a:srgbClr val="000000"/>
                </a:solidFill>
                <a:latin typeface="Arial"/>
                <a:ea typeface="Arial"/>
                <a:cs typeface="Arial"/>
                <a:sym typeface="Arial"/>
              </a:rPr>
              <a:t> (evaluates answers and gives tips) </a:t>
            </a:r>
            <a:endParaRPr sz="1600" dirty="0"/>
          </a:p>
          <a:p>
            <a:pPr marL="285750" marR="0" lvl="0" indent="-285750" algn="just" rtl="0">
              <a:lnSpc>
                <a:spcPct val="100000"/>
              </a:lnSpc>
              <a:spcBef>
                <a:spcPts val="0"/>
              </a:spcBef>
              <a:spcAft>
                <a:spcPts val="0"/>
              </a:spcAft>
              <a:buClr>
                <a:srgbClr val="000000"/>
              </a:buClr>
              <a:buSzPts val="1400"/>
              <a:buFont typeface="Arial"/>
              <a:buChar char="•"/>
            </a:pPr>
            <a:r>
              <a:rPr lang="en-US" sz="2000" b="1" i="0" u="none" strike="noStrike" cap="none" dirty="0">
                <a:solidFill>
                  <a:srgbClr val="000000"/>
                </a:solidFill>
                <a:latin typeface="Arial"/>
                <a:ea typeface="Arial"/>
                <a:cs typeface="Arial"/>
                <a:sym typeface="Arial"/>
              </a:rPr>
              <a:t>Progress Dashboard</a:t>
            </a:r>
            <a:r>
              <a:rPr lang="en-US" sz="2000" b="0" i="0" u="none" strike="noStrike" cap="none" dirty="0">
                <a:solidFill>
                  <a:srgbClr val="000000"/>
                </a:solidFill>
                <a:latin typeface="Arial"/>
                <a:ea typeface="Arial"/>
                <a:cs typeface="Arial"/>
                <a:sym typeface="Arial"/>
              </a:rPr>
              <a:t> – Shows readiness score and weak areas. </a:t>
            </a:r>
            <a:endParaRPr sz="1600" dirty="0"/>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137055" y="135666"/>
            <a:ext cx="8206351"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349654" y="968455"/>
            <a:ext cx="11492692" cy="59708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Proposed Solution: AI-Powered Interview Trainer Agent</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The proposed solution is a </a:t>
            </a:r>
            <a:r>
              <a:rPr lang="en-US" sz="2000" b="1" i="0" u="none" strike="noStrike" cap="none" dirty="0">
                <a:solidFill>
                  <a:srgbClr val="000000"/>
                </a:solidFill>
                <a:latin typeface="Arial"/>
                <a:ea typeface="Arial"/>
                <a:cs typeface="Arial"/>
                <a:sym typeface="Arial"/>
              </a:rPr>
              <a:t>single-agent AI-powered Interview Trainer Agent</a:t>
            </a:r>
            <a:r>
              <a:rPr lang="en-US" sz="2000" b="0" i="0" u="none" strike="noStrike" cap="none" dirty="0">
                <a:solidFill>
                  <a:srgbClr val="000000"/>
                </a:solidFill>
                <a:latin typeface="Arial"/>
                <a:ea typeface="Arial"/>
                <a:cs typeface="Arial"/>
                <a:sym typeface="Arial"/>
              </a:rPr>
              <a:t> built using </a:t>
            </a:r>
            <a:r>
              <a:rPr lang="en-US" sz="2000" b="1" i="0" u="none" strike="noStrike" cap="none" dirty="0">
                <a:solidFill>
                  <a:srgbClr val="000000"/>
                </a:solidFill>
                <a:latin typeface="Arial"/>
                <a:ea typeface="Arial"/>
                <a:cs typeface="Arial"/>
                <a:sym typeface="Arial"/>
              </a:rPr>
              <a:t>a direct watsonx.ai API integration with a Python </a:t>
            </a:r>
            <a:r>
              <a:rPr lang="en-US" sz="2000" b="1" i="0" u="none" strike="noStrike" cap="none" dirty="0" err="1">
                <a:solidFill>
                  <a:srgbClr val="000000"/>
                </a:solidFill>
                <a:latin typeface="Arial"/>
                <a:ea typeface="Arial"/>
                <a:cs typeface="Arial"/>
                <a:sym typeface="Arial"/>
              </a:rPr>
              <a:t>Streamlit</a:t>
            </a:r>
            <a:r>
              <a:rPr lang="en-US" sz="2000" b="1" i="0" u="none" strike="noStrike" cap="none" dirty="0">
                <a:solidFill>
                  <a:srgbClr val="000000"/>
                </a:solidFill>
                <a:latin typeface="Arial"/>
                <a:ea typeface="Arial"/>
                <a:cs typeface="Arial"/>
                <a:sym typeface="Arial"/>
              </a:rPr>
              <a:t> front-end</a:t>
            </a:r>
            <a:r>
              <a:rPr lang="en-US" sz="2000" b="0" i="0" u="none" strike="noStrike" cap="none" dirty="0">
                <a:solidFill>
                  <a:srgbClr val="000000"/>
                </a:solidFill>
                <a:latin typeface="Arial"/>
                <a:ea typeface="Arial"/>
                <a:cs typeface="Arial"/>
                <a:sym typeface="Arial"/>
              </a:rPr>
              <a:t> for personalized, real-time interview coaching and confidence-building.</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It uses </a:t>
            </a:r>
            <a:r>
              <a:rPr lang="en-US" sz="2000" b="1" i="0" u="none" strike="noStrike" cap="none" dirty="0">
                <a:solidFill>
                  <a:srgbClr val="000000"/>
                </a:solidFill>
                <a:latin typeface="Arial"/>
                <a:ea typeface="Arial"/>
                <a:cs typeface="Arial"/>
                <a:sym typeface="Arial"/>
              </a:rPr>
              <a:t>Retrieval-Augmented Generation (RAG)</a:t>
            </a:r>
            <a:r>
              <a:rPr lang="en-US" sz="2000" b="0" i="0" u="none" strike="noStrike" cap="none" dirty="0">
                <a:solidFill>
                  <a:srgbClr val="000000"/>
                </a:solidFill>
                <a:latin typeface="Arial"/>
                <a:ea typeface="Arial"/>
                <a:cs typeface="Arial"/>
                <a:sym typeface="Arial"/>
              </a:rPr>
              <a:t> to fetch role-specific content and generate targeted Q&amp;A.</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Four functional stages run within a single conversational agent:</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Question Bank Agent</a:t>
            </a:r>
            <a:r>
              <a:rPr lang="en-US" sz="2000" b="0" i="0" u="none" strike="noStrike" cap="none" dirty="0">
                <a:solidFill>
                  <a:srgbClr val="000000"/>
                </a:solidFill>
                <a:latin typeface="Arial"/>
                <a:ea typeface="Arial"/>
                <a:cs typeface="Arial"/>
                <a:sym typeface="Arial"/>
              </a:rPr>
              <a:t> retrieves questions using RAG.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Resume Analysis Agent</a:t>
            </a:r>
            <a:r>
              <a:rPr lang="en-US" sz="2000" b="0" i="0" u="none" strike="noStrike" cap="none" dirty="0">
                <a:solidFill>
                  <a:srgbClr val="000000"/>
                </a:solidFill>
                <a:latin typeface="Arial"/>
                <a:ea typeface="Arial"/>
                <a:cs typeface="Arial"/>
                <a:sym typeface="Arial"/>
              </a:rPr>
              <a:t> extracts resume skills to personalize questions.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Mock Interview Agent</a:t>
            </a:r>
            <a:r>
              <a:rPr lang="en-US" sz="2000" b="0" i="0" u="none" strike="noStrike" cap="none" dirty="0">
                <a:solidFill>
                  <a:srgbClr val="000000"/>
                </a:solidFill>
                <a:latin typeface="Arial"/>
                <a:ea typeface="Arial"/>
                <a:cs typeface="Arial"/>
                <a:sym typeface="Arial"/>
              </a:rPr>
              <a:t> runs technical and behavioral Q&amp;A.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Feedback &amp; Scoring Agent</a:t>
            </a:r>
            <a:r>
              <a:rPr lang="en-US" sz="2000" b="0" i="0" u="none" strike="noStrike" cap="none" dirty="0">
                <a:solidFill>
                  <a:srgbClr val="000000"/>
                </a:solidFill>
                <a:latin typeface="Arial"/>
                <a:ea typeface="Arial"/>
                <a:cs typeface="Arial"/>
                <a:sym typeface="Arial"/>
              </a:rPr>
              <a:t> evaluates responses and provides model answers with tips. </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The solution includes a </a:t>
            </a:r>
            <a:r>
              <a:rPr lang="en-US" sz="2000" b="1" i="0" u="none" strike="noStrike" cap="none" dirty="0">
                <a:solidFill>
                  <a:srgbClr val="000000"/>
                </a:solidFill>
                <a:latin typeface="Arial"/>
                <a:ea typeface="Arial"/>
                <a:cs typeface="Arial"/>
                <a:sym typeface="Arial"/>
              </a:rPr>
              <a:t>user-friendly dashboard</a:t>
            </a:r>
            <a:r>
              <a:rPr lang="en-US" sz="2000" b="0" i="0" u="none" strike="noStrike" cap="none" dirty="0">
                <a:solidFill>
                  <a:srgbClr val="000000"/>
                </a:solidFill>
                <a:latin typeface="Arial"/>
                <a:ea typeface="Arial"/>
                <a:cs typeface="Arial"/>
                <a:sym typeface="Arial"/>
              </a:rPr>
              <a:t> (</a:t>
            </a:r>
            <a:r>
              <a:rPr lang="en-US" sz="2000" b="0" i="0" u="none" strike="noStrike" cap="none" dirty="0" err="1">
                <a:solidFill>
                  <a:srgbClr val="000000"/>
                </a:solidFill>
                <a:latin typeface="Arial"/>
                <a:ea typeface="Arial"/>
                <a:cs typeface="Arial"/>
                <a:sym typeface="Arial"/>
              </a:rPr>
              <a:t>Streamlit</a:t>
            </a:r>
            <a:r>
              <a:rPr lang="en-US" sz="2000" b="0" i="0" u="none" strike="noStrike" cap="none" dirty="0">
                <a:solidFill>
                  <a:srgbClr val="000000"/>
                </a:solidFill>
                <a:latin typeface="Arial"/>
                <a:ea typeface="Arial"/>
                <a:cs typeface="Arial"/>
                <a:sym typeface="Arial"/>
              </a:rPr>
              <a:t>) showing readiness, strengths/weaknesses, and progress.</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Granite (or Meta/Mistral fallback) powers reasoning and feedback, with live token usage shown in the app.</a:t>
            </a: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This delivers an </a:t>
            </a:r>
            <a:r>
              <a:rPr lang="en-US" sz="2000" b="1" i="0" u="none" strike="noStrike" cap="none" dirty="0">
                <a:solidFill>
                  <a:srgbClr val="000000"/>
                </a:solidFill>
                <a:latin typeface="Arial"/>
                <a:ea typeface="Arial"/>
                <a:cs typeface="Arial"/>
                <a:sym typeface="Arial"/>
              </a:rPr>
              <a:t>end-to-end intelligent interview coach</a:t>
            </a:r>
            <a:r>
              <a:rPr lang="en-US" sz="2000" b="0" i="0" u="none" strike="noStrike" cap="none" dirty="0">
                <a:solidFill>
                  <a:srgbClr val="000000"/>
                </a:solidFill>
                <a:latin typeface="Arial"/>
                <a:ea typeface="Arial"/>
                <a:cs typeface="Arial"/>
                <a:sym typeface="Arial"/>
              </a:rPr>
              <a:t> that builds candidate confidence through data-driven prep.</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343708" y="363995"/>
            <a:ext cx="7817012" cy="52318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32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22376"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4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742188" y="1267968"/>
            <a:ext cx="10707624" cy="584771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watsonx.ai Direct API </a:t>
            </a:r>
            <a:r>
              <a:rPr lang="en-US" sz="2000" b="0" i="0" u="none" strike="noStrike" cap="none" dirty="0">
                <a:solidFill>
                  <a:srgbClr val="000000"/>
                </a:solidFill>
                <a:latin typeface="Arial"/>
                <a:ea typeface="Arial"/>
                <a:cs typeface="Arial"/>
                <a:sym typeface="Arial"/>
              </a:rPr>
              <a:t>-For calling the Granite/Mistral model directly using Project ID, Region URL, API Key, and Model ID</a:t>
            </a:r>
            <a:endParaRPr sz="1800" b="0" i="0" u="none" strike="noStrike" cap="none" dirty="0">
              <a:solidFill>
                <a:srgbClr val="000000"/>
              </a:solidFill>
              <a:latin typeface="Arial"/>
              <a:ea typeface="Arial"/>
              <a:cs typeface="Arial"/>
              <a:sym typeface="Arial"/>
            </a:endParaRPr>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a:t>
            </a:r>
            <a:r>
              <a:rPr lang="en-US" sz="2000" b="1" i="0" u="none" strike="noStrike" cap="none" dirty="0" err="1">
                <a:solidFill>
                  <a:srgbClr val="000000"/>
                </a:solidFill>
                <a:latin typeface="Arial"/>
                <a:ea typeface="Arial"/>
                <a:cs typeface="Arial"/>
                <a:sym typeface="Arial"/>
              </a:rPr>
              <a:t>Granite</a:t>
            </a:r>
            <a:r>
              <a:rPr lang="en-US" sz="2000" b="1" i="0" u="none" strike="noStrike" cap="none" dirty="0">
                <a:solidFill>
                  <a:srgbClr val="000000"/>
                </a:solidFill>
                <a:latin typeface="Arial"/>
                <a:ea typeface="Arial"/>
                <a:cs typeface="Arial"/>
                <a:sym typeface="Arial"/>
              </a:rPr>
              <a:t> model </a:t>
            </a:r>
            <a:r>
              <a:rPr lang="en-US" sz="2000" b="0" i="0" u="none" strike="noStrike" cap="none" dirty="0">
                <a:solidFill>
                  <a:srgbClr val="000000"/>
                </a:solidFill>
                <a:latin typeface="Arial"/>
                <a:ea typeface="Arial"/>
                <a:cs typeface="Arial"/>
                <a:sym typeface="Arial"/>
              </a:rPr>
              <a:t>-  for </a:t>
            </a:r>
            <a:r>
              <a:rPr lang="en-US" sz="2000" b="0" i="0" u="none" strike="noStrike" cap="none" dirty="0" err="1">
                <a:solidFill>
                  <a:srgbClr val="000000"/>
                </a:solidFill>
                <a:latin typeface="Arial"/>
                <a:ea typeface="Arial"/>
                <a:cs typeface="Arial"/>
                <a:sym typeface="Arial"/>
              </a:rPr>
              <a:t>eg</a:t>
            </a:r>
            <a:r>
              <a:rPr lang="en-US" sz="2000" b="0" i="0" u="none" strike="noStrike" cap="none" dirty="0">
                <a:solidFill>
                  <a:srgbClr val="000000"/>
                </a:solidFill>
                <a:latin typeface="Arial"/>
                <a:ea typeface="Arial"/>
                <a:cs typeface="Arial"/>
                <a:sym typeface="Arial"/>
              </a:rPr>
              <a:t> – </a:t>
            </a:r>
            <a:r>
              <a:rPr lang="en-US" sz="2000" b="0" i="0" u="none" strike="noStrike" cap="none" dirty="0" err="1">
                <a:solidFill>
                  <a:srgbClr val="000000"/>
                </a:solidFill>
                <a:latin typeface="Arial"/>
                <a:ea typeface="Arial"/>
                <a:cs typeface="Arial"/>
                <a:sym typeface="Arial"/>
              </a:rPr>
              <a:t>ibm</a:t>
            </a:r>
            <a:r>
              <a:rPr lang="en-US" sz="2000" b="0" i="0" u="none" strike="noStrike" cap="none" dirty="0">
                <a:solidFill>
                  <a:srgbClr val="000000"/>
                </a:solidFill>
                <a:latin typeface="Arial"/>
                <a:ea typeface="Arial"/>
                <a:cs typeface="Arial"/>
                <a:sym typeface="Arial"/>
              </a:rPr>
              <a:t>/granite-4-h-small (or Meta/Mistral if unavailable) – for reasoning and feedback generation</a:t>
            </a:r>
            <a:endParaRPr dirty="0"/>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Cloud </a:t>
            </a:r>
            <a:r>
              <a:rPr lang="en-US" sz="2000" b="0" i="0" u="none" strike="noStrike" cap="none" dirty="0">
                <a:solidFill>
                  <a:srgbClr val="000000"/>
                </a:solidFill>
                <a:latin typeface="Arial"/>
                <a:ea typeface="Arial"/>
                <a:cs typeface="Arial"/>
                <a:sym typeface="Arial"/>
              </a:rPr>
              <a:t>– Provides infrastructure to build, deploy, and scale the agent, with a </a:t>
            </a:r>
            <a:r>
              <a:rPr lang="en-US" sz="2000" b="1" i="0" u="none" strike="noStrike" cap="none" dirty="0">
                <a:solidFill>
                  <a:srgbClr val="000000"/>
                </a:solidFill>
                <a:latin typeface="Arial"/>
                <a:ea typeface="Arial"/>
                <a:cs typeface="Arial"/>
                <a:sym typeface="Arial"/>
              </a:rPr>
              <a:t>reliable, secure, and scalable environment</a:t>
            </a:r>
            <a:r>
              <a:rPr lang="en-US" sz="2000" b="0" i="0" u="none" strike="noStrike" cap="none" dirty="0">
                <a:solidFill>
                  <a:srgbClr val="000000"/>
                </a:solidFill>
                <a:latin typeface="Arial"/>
                <a:ea typeface="Arial"/>
                <a:cs typeface="Arial"/>
                <a:sym typeface="Arial"/>
              </a:rPr>
              <a:t> for deploying the Interview Trainer Agent.</a:t>
            </a:r>
            <a:endParaRPr dirty="0"/>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RAG– </a:t>
            </a:r>
            <a:r>
              <a:rPr lang="en-US" sz="2000" b="0" i="0" u="none" strike="noStrike" cap="none" dirty="0">
                <a:solidFill>
                  <a:srgbClr val="000000"/>
                </a:solidFill>
                <a:latin typeface="Arial"/>
                <a:ea typeface="Arial"/>
                <a:cs typeface="Arial"/>
                <a:sym typeface="Arial"/>
              </a:rPr>
              <a:t>RAG to </a:t>
            </a:r>
            <a:r>
              <a:rPr lang="en-US" sz="2000" b="1" i="0" u="none" strike="noStrike" cap="none" dirty="0">
                <a:solidFill>
                  <a:srgbClr val="000000"/>
                </a:solidFill>
                <a:latin typeface="Arial"/>
                <a:ea typeface="Arial"/>
                <a:cs typeface="Arial"/>
                <a:sym typeface="Arial"/>
              </a:rPr>
              <a:t>fetch real interview data first, then generate intelligent answers</a:t>
            </a:r>
            <a:r>
              <a:rPr lang="en-US" sz="2000" b="0" i="0" u="none" strike="noStrike" cap="none" dirty="0">
                <a:solidFill>
                  <a:srgbClr val="000000"/>
                </a:solidFill>
                <a:latin typeface="Arial"/>
                <a:ea typeface="Arial"/>
                <a:cs typeface="Arial"/>
                <a:sym typeface="Arial"/>
              </a:rPr>
              <a:t>, making the Interview Trainer Agent more trustworthy and effective.</a:t>
            </a:r>
            <a:endParaRPr dirty="0"/>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watsonx.ai - </a:t>
            </a:r>
            <a:r>
              <a:rPr lang="en-US" sz="20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Vector Database </a:t>
            </a:r>
            <a:r>
              <a:rPr lang="en-US" sz="2000" b="0" i="0" u="none" strike="noStrike" cap="none" dirty="0">
                <a:solidFill>
                  <a:srgbClr val="000000"/>
                </a:solidFill>
                <a:latin typeface="Arial"/>
                <a:ea typeface="Arial"/>
                <a:cs typeface="Arial"/>
                <a:sym typeface="Arial"/>
              </a:rPr>
              <a:t>(FAISS/Chroma) – For RAG-based interview question and resume retrieval</a:t>
            </a:r>
            <a:endParaRPr sz="1800" b="0" i="0" u="none" strike="noStrike" cap="none" dirty="0">
              <a:solidFill>
                <a:srgbClr val="000000"/>
              </a:solidFill>
              <a:latin typeface="Arial"/>
              <a:ea typeface="Arial"/>
              <a:cs typeface="Arial"/>
              <a:sym typeface="Arial"/>
            </a:endParaRPr>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93011" y="851559"/>
            <a:ext cx="8489491"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Direct API Integration</a:t>
            </a:r>
            <a:r>
              <a:rPr lang="en-US" sz="2800" b="1" i="0" u="none" strike="noStrike" cap="none" dirty="0">
                <a:solidFill>
                  <a:srgbClr val="051D3A"/>
                </a:solidFill>
                <a:latin typeface="Arial"/>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511731" y="1442307"/>
            <a:ext cx="11168538" cy="618626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1) Chat Input </a:t>
            </a:r>
            <a:r>
              <a:rPr lang="en-US" sz="2000" b="0" i="0" u="none" strike="noStrike" cap="none" dirty="0">
                <a:solidFill>
                  <a:srgbClr val="000000"/>
                </a:solidFill>
                <a:latin typeface="Arial"/>
                <a:ea typeface="Arial"/>
                <a:cs typeface="Arial"/>
                <a:sym typeface="Arial"/>
              </a:rPr>
              <a:t>– User enters role, experience, and resume details (text).</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2) watsonx.ai Model Inference Client </a:t>
            </a:r>
            <a:r>
              <a:rPr lang="en-US" sz="2000" b="0" i="0" u="none" strike="noStrike" cap="none" dirty="0">
                <a:solidFill>
                  <a:srgbClr val="000000"/>
                </a:solidFill>
                <a:latin typeface="Arial"/>
                <a:ea typeface="Arial"/>
                <a:cs typeface="Arial"/>
                <a:sym typeface="Arial"/>
              </a:rPr>
              <a:t>- Initialized with Region URL, API Key, Project ID; sends/receives chat messages with the model. </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3) Model ID used - </a:t>
            </a:r>
            <a:r>
              <a:rPr lang="en-US" sz="2000" b="0" i="0" u="none" strike="noStrike" cap="none" dirty="0" err="1">
                <a:solidFill>
                  <a:srgbClr val="000000"/>
                </a:solidFill>
                <a:latin typeface="Arial"/>
                <a:ea typeface="Arial"/>
                <a:cs typeface="Arial"/>
                <a:sym typeface="Arial"/>
              </a:rPr>
              <a:t>ibm</a:t>
            </a:r>
            <a:r>
              <a:rPr lang="en-US" sz="2000" b="0" i="0" u="none" strike="noStrike" cap="none" dirty="0">
                <a:solidFill>
                  <a:srgbClr val="000000"/>
                </a:solidFill>
                <a:latin typeface="Arial"/>
                <a:ea typeface="Arial"/>
                <a:cs typeface="Arial"/>
                <a:sym typeface="Arial"/>
              </a:rPr>
              <a:t>/granite-4-h-small (fallback: Meta/Mistral) → fast real-time Q&amp;A and feedback</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4) Chat output -</a:t>
            </a:r>
            <a:r>
              <a:rPr lang="en-US" sz="2000" b="0" i="0" u="none" strike="noStrike" cap="none" dirty="0">
                <a:solidFill>
                  <a:srgbClr val="000000"/>
                </a:solidFill>
                <a:latin typeface="Arial"/>
                <a:ea typeface="Arial"/>
                <a:cs typeface="Arial"/>
                <a:sym typeface="Arial"/>
              </a:rPr>
              <a:t>Displays generated questions, model answers, and improvement tips. </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5) </a:t>
            </a:r>
            <a:r>
              <a:rPr lang="en-US" sz="2000" b="1" i="0" u="none" strike="noStrike" cap="none" dirty="0" err="1">
                <a:solidFill>
                  <a:srgbClr val="000000"/>
                </a:solidFill>
                <a:latin typeface="Arial"/>
                <a:ea typeface="Arial"/>
                <a:cs typeface="Arial"/>
                <a:sym typeface="Arial"/>
              </a:rPr>
              <a:t>Streamlit</a:t>
            </a:r>
            <a:r>
              <a:rPr lang="en-US" sz="2000" b="1" i="0" u="none" strike="noStrike" cap="none" dirty="0">
                <a:solidFill>
                  <a:srgbClr val="000000"/>
                </a:solidFill>
                <a:latin typeface="Arial"/>
                <a:ea typeface="Arial"/>
                <a:cs typeface="Arial"/>
                <a:sym typeface="Arial"/>
              </a:rPr>
              <a:t> UI - </a:t>
            </a:r>
            <a:r>
              <a:rPr lang="en-US" sz="2000" b="0" i="0" u="none" strike="noStrike" cap="none" dirty="0">
                <a:solidFill>
                  <a:srgbClr val="000000"/>
                </a:solidFill>
                <a:latin typeface="Arial"/>
                <a:ea typeface="Arial"/>
                <a:cs typeface="Arial"/>
                <a:sym typeface="Arial"/>
              </a:rPr>
              <a:t>Chat UI, session state for history, and a sidebar with live token usage.</a:t>
            </a:r>
            <a:endParaRPr dirty="0"/>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lvl="0" algn="just"/>
            <a:r>
              <a:rPr lang="en-US" sz="2000" b="1" i="0" u="none" strike="noStrike" cap="none" dirty="0">
                <a:solidFill>
                  <a:srgbClr val="000000"/>
                </a:solidFill>
                <a:latin typeface="Arial"/>
                <a:ea typeface="Arial"/>
                <a:cs typeface="Arial"/>
                <a:sym typeface="Arial"/>
              </a:rPr>
              <a:t>6) </a:t>
            </a:r>
            <a:r>
              <a:rPr lang="en-IN" sz="2000" b="1" dirty="0">
                <a:latin typeface="Arial"/>
              </a:rPr>
              <a:t>Knowledge Base Injection (RAG-lite) </a:t>
            </a:r>
            <a:r>
              <a:rPr lang="en-US" sz="2000" b="1" i="0" u="none" strike="noStrike" cap="none" dirty="0">
                <a:solidFill>
                  <a:srgbClr val="000000"/>
                </a:solidFill>
                <a:latin typeface="Arial"/>
                <a:ea typeface="Arial"/>
                <a:cs typeface="Arial"/>
                <a:sym typeface="Arial"/>
              </a:rPr>
              <a:t>- </a:t>
            </a:r>
            <a:r>
              <a:rPr lang="en-US" sz="2000" b="0" i="0" u="none" strike="noStrike" cap="none" dirty="0">
                <a:solidFill>
                  <a:srgbClr val="000000"/>
                </a:solidFill>
                <a:latin typeface="Arial"/>
                <a:ea typeface="Arial"/>
                <a:cs typeface="Arial"/>
                <a:sym typeface="Arial"/>
              </a:rPr>
              <a:t>The Interview Question Bank file is injected into the system prompt for RAG-lite retrieval.</a:t>
            </a:r>
            <a:endParaRPr dirty="0"/>
          </a:p>
          <a:p>
            <a:pPr marL="342900" marR="0" lvl="0" indent="-254000" algn="just"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230641"/>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Streamlit</a:t>
            </a:r>
            <a:r>
              <a:rPr lang="en-US" sz="2800" b="1" i="0" u="none" strike="noStrike" cap="none" dirty="0">
                <a:solidFill>
                  <a:srgbClr val="000000"/>
                </a:solidFill>
                <a:latin typeface="Arial"/>
                <a:ea typeface="Arial"/>
                <a:cs typeface="Arial"/>
                <a:sym typeface="Arial"/>
              </a:rPr>
              <a:t> App</a:t>
            </a:r>
            <a:r>
              <a:rPr lang="en-US" sz="2800" b="1" i="0" u="none" strike="noStrike" cap="none" dirty="0">
                <a:solidFill>
                  <a:srgbClr val="051D3A"/>
                </a:solidFill>
                <a:latin typeface="Arial"/>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400" b="1"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010A1C0F-618C-11A5-95B4-1A1CE19CEF76}"/>
              </a:ext>
            </a:extLst>
          </p:cNvPr>
          <p:cNvPicPr>
            <a:picLocks noChangeAspect="1"/>
          </p:cNvPicPr>
          <p:nvPr/>
        </p:nvPicPr>
        <p:blipFill>
          <a:blip r:embed="rId3"/>
          <a:stretch>
            <a:fillRect/>
          </a:stretch>
        </p:blipFill>
        <p:spPr>
          <a:xfrm>
            <a:off x="6345092" y="904484"/>
            <a:ext cx="5400222" cy="2840499"/>
          </a:xfrm>
          <a:prstGeom prst="rect">
            <a:avLst/>
          </a:prstGeom>
        </p:spPr>
      </p:pic>
      <p:pic>
        <p:nvPicPr>
          <p:cNvPr id="7" name="Picture 6">
            <a:extLst>
              <a:ext uri="{FF2B5EF4-FFF2-40B4-BE49-F238E27FC236}">
                <a16:creationId xmlns:a16="http://schemas.microsoft.com/office/drawing/2014/main" id="{9B3088E7-9779-B778-AEC2-9591FE8E5B8F}"/>
              </a:ext>
            </a:extLst>
          </p:cNvPr>
          <p:cNvPicPr>
            <a:picLocks noChangeAspect="1"/>
          </p:cNvPicPr>
          <p:nvPr/>
        </p:nvPicPr>
        <p:blipFill>
          <a:blip r:embed="rId4"/>
          <a:stretch>
            <a:fillRect/>
          </a:stretch>
        </p:blipFill>
        <p:spPr>
          <a:xfrm>
            <a:off x="3395889" y="3970318"/>
            <a:ext cx="5400222" cy="2840500"/>
          </a:xfrm>
          <a:prstGeom prst="rect">
            <a:avLst/>
          </a:prstGeom>
        </p:spPr>
      </p:pic>
      <p:pic>
        <p:nvPicPr>
          <p:cNvPr id="9" name="Picture 8">
            <a:extLst>
              <a:ext uri="{FF2B5EF4-FFF2-40B4-BE49-F238E27FC236}">
                <a16:creationId xmlns:a16="http://schemas.microsoft.com/office/drawing/2014/main" id="{8C68848F-12BA-A89B-3E15-E4963C4B0384}"/>
              </a:ext>
            </a:extLst>
          </p:cNvPr>
          <p:cNvPicPr>
            <a:picLocks noChangeAspect="1"/>
          </p:cNvPicPr>
          <p:nvPr/>
        </p:nvPicPr>
        <p:blipFill>
          <a:blip r:embed="rId5"/>
          <a:stretch>
            <a:fillRect/>
          </a:stretch>
        </p:blipFill>
        <p:spPr>
          <a:xfrm>
            <a:off x="537590" y="904484"/>
            <a:ext cx="5400223" cy="28404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7147D-C5AC-FA48-6D7D-D332F13411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8F57E6-7B70-4A79-7710-BA4FA32CD0CE}"/>
              </a:ext>
            </a:extLst>
          </p:cNvPr>
          <p:cNvSpPr txBox="1"/>
          <p:nvPr/>
        </p:nvSpPr>
        <p:spPr>
          <a:xfrm>
            <a:off x="845292" y="323239"/>
            <a:ext cx="10185565" cy="523220"/>
          </a:xfrm>
          <a:prstGeom prst="rect">
            <a:avLst/>
          </a:prstGeom>
          <a:noFill/>
        </p:spPr>
        <p:txBody>
          <a:bodyPr wrap="square">
            <a:spAutoFit/>
          </a:bodyPr>
          <a:lstStyle/>
          <a:p>
            <a:r>
              <a:rPr sz="2800" b="1" dirty="0">
                <a:solidFill>
                  <a:srgbClr val="000000"/>
                </a:solidFill>
                <a:latin typeface="Arial"/>
              </a:rPr>
              <a:t>Development Process – watsonx.ai Prompt Lab + IBM Bob</a:t>
            </a:r>
          </a:p>
        </p:txBody>
      </p:sp>
      <p:sp>
        <p:nvSpPr>
          <p:cNvPr id="3" name="TextBox 2">
            <a:extLst>
              <a:ext uri="{FF2B5EF4-FFF2-40B4-BE49-F238E27FC236}">
                <a16:creationId xmlns:a16="http://schemas.microsoft.com/office/drawing/2014/main" id="{92F1D5BC-7FE6-EC7E-0C05-42ABC2A69BBE}"/>
              </a:ext>
            </a:extLst>
          </p:cNvPr>
          <p:cNvSpPr txBox="1"/>
          <p:nvPr/>
        </p:nvSpPr>
        <p:spPr>
          <a:xfrm>
            <a:off x="992355" y="6180951"/>
            <a:ext cx="9964479" cy="400110"/>
          </a:xfrm>
          <a:prstGeom prst="rect">
            <a:avLst/>
          </a:prstGeom>
          <a:noFill/>
        </p:spPr>
        <p:txBody>
          <a:bodyPr wrap="square">
            <a:spAutoFit/>
          </a:bodyPr>
          <a:lstStyle/>
          <a:p>
            <a:pPr algn="ctr"/>
            <a:r>
              <a:rPr sz="2000" b="1" dirty="0">
                <a:solidFill>
                  <a:srgbClr val="26215C"/>
                </a:solidFill>
                <a:latin typeface="Arial"/>
              </a:rPr>
              <a:t>watsonx.ai Prompt Lab — model testing (Granite-4-h-small, Frankfurt)</a:t>
            </a:r>
          </a:p>
        </p:txBody>
      </p:sp>
      <p:grpSp>
        <p:nvGrpSpPr>
          <p:cNvPr id="15" name="Group 14">
            <a:extLst>
              <a:ext uri="{FF2B5EF4-FFF2-40B4-BE49-F238E27FC236}">
                <a16:creationId xmlns:a16="http://schemas.microsoft.com/office/drawing/2014/main" id="{D107AB05-EBBE-3C94-B364-E606A65F54A1}"/>
              </a:ext>
            </a:extLst>
          </p:cNvPr>
          <p:cNvGrpSpPr/>
          <p:nvPr/>
        </p:nvGrpSpPr>
        <p:grpSpPr>
          <a:xfrm>
            <a:off x="992356" y="1018989"/>
            <a:ext cx="9891438" cy="5083832"/>
            <a:chOff x="1468433" y="1003299"/>
            <a:chExt cx="8771648" cy="5083832"/>
          </a:xfrm>
        </p:grpSpPr>
        <p:pic>
          <p:nvPicPr>
            <p:cNvPr id="8" name="Picture 7">
              <a:extLst>
                <a:ext uri="{FF2B5EF4-FFF2-40B4-BE49-F238E27FC236}">
                  <a16:creationId xmlns:a16="http://schemas.microsoft.com/office/drawing/2014/main" id="{6D8784A6-2E9F-1C7A-4BF3-CBDAD2519B9A}"/>
                </a:ext>
              </a:extLst>
            </p:cNvPr>
            <p:cNvPicPr>
              <a:picLocks noChangeAspect="1"/>
            </p:cNvPicPr>
            <p:nvPr/>
          </p:nvPicPr>
          <p:blipFill>
            <a:blip r:embed="rId2"/>
            <a:stretch>
              <a:fillRect/>
            </a:stretch>
          </p:blipFill>
          <p:spPr>
            <a:xfrm>
              <a:off x="1468433" y="1003299"/>
              <a:ext cx="4220172" cy="2457771"/>
            </a:xfrm>
            <a:prstGeom prst="rect">
              <a:avLst/>
            </a:prstGeom>
          </p:spPr>
        </p:pic>
        <p:pic>
          <p:nvPicPr>
            <p:cNvPr id="10" name="Picture 9">
              <a:extLst>
                <a:ext uri="{FF2B5EF4-FFF2-40B4-BE49-F238E27FC236}">
                  <a16:creationId xmlns:a16="http://schemas.microsoft.com/office/drawing/2014/main" id="{5F3B01CB-7F24-76DA-40D2-4E35FCFC6D14}"/>
                </a:ext>
              </a:extLst>
            </p:cNvPr>
            <p:cNvPicPr>
              <a:picLocks noChangeAspect="1"/>
            </p:cNvPicPr>
            <p:nvPr/>
          </p:nvPicPr>
          <p:blipFill>
            <a:blip r:embed="rId3"/>
            <a:srcRect l="1204" t="-3297" r="-1204" b="3297"/>
            <a:stretch>
              <a:fillRect/>
            </a:stretch>
          </p:blipFill>
          <p:spPr>
            <a:xfrm>
              <a:off x="6019909" y="1003299"/>
              <a:ext cx="4220172" cy="2466322"/>
            </a:xfrm>
            <a:prstGeom prst="rect">
              <a:avLst/>
            </a:prstGeom>
          </p:spPr>
        </p:pic>
        <p:pic>
          <p:nvPicPr>
            <p:cNvPr id="12" name="Picture 11">
              <a:extLst>
                <a:ext uri="{FF2B5EF4-FFF2-40B4-BE49-F238E27FC236}">
                  <a16:creationId xmlns:a16="http://schemas.microsoft.com/office/drawing/2014/main" id="{D31F0736-1B55-746D-FFA3-A6EBB660E69A}"/>
                </a:ext>
              </a:extLst>
            </p:cNvPr>
            <p:cNvPicPr>
              <a:picLocks noChangeAspect="1"/>
            </p:cNvPicPr>
            <p:nvPr/>
          </p:nvPicPr>
          <p:blipFill>
            <a:blip r:embed="rId4"/>
            <a:stretch>
              <a:fillRect/>
            </a:stretch>
          </p:blipFill>
          <p:spPr>
            <a:xfrm>
              <a:off x="1468433" y="3629360"/>
              <a:ext cx="4220172" cy="2457771"/>
            </a:xfrm>
            <a:prstGeom prst="rect">
              <a:avLst/>
            </a:prstGeom>
          </p:spPr>
        </p:pic>
        <p:pic>
          <p:nvPicPr>
            <p:cNvPr id="14" name="Picture 13">
              <a:extLst>
                <a:ext uri="{FF2B5EF4-FFF2-40B4-BE49-F238E27FC236}">
                  <a16:creationId xmlns:a16="http://schemas.microsoft.com/office/drawing/2014/main" id="{A9E11D51-AC9F-87C3-23AA-6DED7F124F01}"/>
                </a:ext>
              </a:extLst>
            </p:cNvPr>
            <p:cNvPicPr>
              <a:picLocks noChangeAspect="1"/>
            </p:cNvPicPr>
            <p:nvPr/>
          </p:nvPicPr>
          <p:blipFill>
            <a:blip r:embed="rId5"/>
            <a:stretch>
              <a:fillRect/>
            </a:stretch>
          </p:blipFill>
          <p:spPr>
            <a:xfrm>
              <a:off x="6019909" y="3629360"/>
              <a:ext cx="4220172" cy="2457771"/>
            </a:xfrm>
            <a:prstGeom prst="rect">
              <a:avLst/>
            </a:prstGeom>
          </p:spPr>
        </p:pic>
      </p:grpSp>
    </p:spTree>
    <p:extLst>
      <p:ext uri="{BB962C8B-B14F-4D97-AF65-F5344CB8AC3E}">
        <p14:creationId xmlns:p14="http://schemas.microsoft.com/office/powerpoint/2010/main" val="695607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7720" y="323239"/>
            <a:ext cx="10156559" cy="523220"/>
          </a:xfrm>
          <a:prstGeom prst="rect">
            <a:avLst/>
          </a:prstGeom>
          <a:noFill/>
        </p:spPr>
        <p:txBody>
          <a:bodyPr wrap="square">
            <a:spAutoFit/>
          </a:bodyPr>
          <a:lstStyle/>
          <a:p>
            <a:r>
              <a:rPr sz="2800" b="1" dirty="0">
                <a:solidFill>
                  <a:srgbClr val="000000"/>
                </a:solidFill>
                <a:latin typeface="Arial"/>
              </a:rPr>
              <a:t>Development Process – watsonx.ai Prompt Lab + IBM Bob</a:t>
            </a:r>
          </a:p>
        </p:txBody>
      </p:sp>
      <p:sp>
        <p:nvSpPr>
          <p:cNvPr id="4" name="TextBox 3"/>
          <p:cNvSpPr txBox="1"/>
          <p:nvPr/>
        </p:nvSpPr>
        <p:spPr>
          <a:xfrm>
            <a:off x="1538491" y="6134651"/>
            <a:ext cx="9115018" cy="400110"/>
          </a:xfrm>
          <a:prstGeom prst="rect">
            <a:avLst/>
          </a:prstGeom>
          <a:noFill/>
        </p:spPr>
        <p:txBody>
          <a:bodyPr wrap="square">
            <a:spAutoFit/>
          </a:bodyPr>
          <a:lstStyle/>
          <a:p>
            <a:pPr algn="ctr"/>
            <a:r>
              <a:rPr sz="2000" b="1" dirty="0">
                <a:solidFill>
                  <a:srgbClr val="26215C"/>
                </a:solidFill>
                <a:latin typeface="Arial"/>
              </a:rPr>
              <a:t>IBM Bob — AI-assisted development of the </a:t>
            </a:r>
            <a:r>
              <a:rPr sz="2000" b="1" dirty="0" err="1">
                <a:solidFill>
                  <a:srgbClr val="26215C"/>
                </a:solidFill>
                <a:latin typeface="Arial"/>
              </a:rPr>
              <a:t>Streamlit</a:t>
            </a:r>
            <a:r>
              <a:rPr sz="2000" b="1" dirty="0">
                <a:solidFill>
                  <a:srgbClr val="26215C"/>
                </a:solidFill>
                <a:latin typeface="Arial"/>
              </a:rPr>
              <a:t> front-end</a:t>
            </a:r>
          </a:p>
        </p:txBody>
      </p:sp>
      <p:grpSp>
        <p:nvGrpSpPr>
          <p:cNvPr id="15" name="Group 14">
            <a:extLst>
              <a:ext uri="{FF2B5EF4-FFF2-40B4-BE49-F238E27FC236}">
                <a16:creationId xmlns:a16="http://schemas.microsoft.com/office/drawing/2014/main" id="{2261A040-B501-39E2-ABD5-238E56FABD16}"/>
              </a:ext>
            </a:extLst>
          </p:cNvPr>
          <p:cNvGrpSpPr/>
          <p:nvPr/>
        </p:nvGrpSpPr>
        <p:grpSpPr>
          <a:xfrm>
            <a:off x="548210" y="1036722"/>
            <a:ext cx="11095580" cy="4907666"/>
            <a:chOff x="636608" y="1116104"/>
            <a:chExt cx="11095580" cy="4907666"/>
          </a:xfrm>
        </p:grpSpPr>
        <p:pic>
          <p:nvPicPr>
            <p:cNvPr id="11" name="Picture 10" descr="WhatsApp_Image_2026-07-12_at_2_02_04_AM.jpeg">
              <a:extLst>
                <a:ext uri="{FF2B5EF4-FFF2-40B4-BE49-F238E27FC236}">
                  <a16:creationId xmlns:a16="http://schemas.microsoft.com/office/drawing/2014/main" id="{0031D064-E869-1929-9D8D-D36979719DCB}"/>
                </a:ext>
              </a:extLst>
            </p:cNvPr>
            <p:cNvPicPr>
              <a:picLocks noChangeAspect="1"/>
            </p:cNvPicPr>
            <p:nvPr/>
          </p:nvPicPr>
          <p:blipFill>
            <a:blip r:embed="rId2"/>
            <a:stretch>
              <a:fillRect/>
            </a:stretch>
          </p:blipFill>
          <p:spPr>
            <a:xfrm>
              <a:off x="6386188" y="1116104"/>
              <a:ext cx="5346000" cy="4907666"/>
            </a:xfrm>
            <a:prstGeom prst="rect">
              <a:avLst/>
            </a:prstGeom>
          </p:spPr>
        </p:pic>
        <p:pic>
          <p:nvPicPr>
            <p:cNvPr id="14" name="Picture 13">
              <a:extLst>
                <a:ext uri="{FF2B5EF4-FFF2-40B4-BE49-F238E27FC236}">
                  <a16:creationId xmlns:a16="http://schemas.microsoft.com/office/drawing/2014/main" id="{5796BBAB-D2CE-9C11-D7A5-28CEE4B99D91}"/>
                </a:ext>
              </a:extLst>
            </p:cNvPr>
            <p:cNvPicPr>
              <a:picLocks noChangeAspect="1"/>
            </p:cNvPicPr>
            <p:nvPr/>
          </p:nvPicPr>
          <p:blipFill>
            <a:blip r:embed="rId3"/>
            <a:stretch>
              <a:fillRect/>
            </a:stretch>
          </p:blipFill>
          <p:spPr>
            <a:xfrm>
              <a:off x="636608" y="1116104"/>
              <a:ext cx="5346000" cy="490766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Arial"/>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132" name="Google Shape;132;p7"/>
          <p:cNvPicPr preferRelativeResize="0"/>
          <p:nvPr/>
        </p:nvPicPr>
        <p:blipFill rotWithShape="1">
          <a:blip r:embed="rId3">
            <a:alphaModFix/>
          </a:blip>
          <a:srcRect/>
          <a:stretch/>
        </p:blipFill>
        <p:spPr>
          <a:xfrm>
            <a:off x="1876619" y="771747"/>
            <a:ext cx="9139800" cy="60862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185195" y="329763"/>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185195" y="914538"/>
            <a:ext cx="11794602" cy="580154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Role of Agentic AI in Interview Trainer Agent</a:t>
            </a:r>
          </a:p>
          <a:p>
            <a:pPr marL="0" marR="0" lvl="0" indent="0" algn="just" rtl="0">
              <a:lnSpc>
                <a:spcPct val="100000"/>
              </a:lnSpc>
              <a:spcBef>
                <a:spcPts val="0"/>
              </a:spcBef>
              <a:spcAft>
                <a:spcPts val="0"/>
              </a:spcAft>
              <a:buNone/>
            </a:pPr>
            <a:endParaRPr sz="1500"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Agentic AI</a:t>
            </a:r>
            <a:r>
              <a:rPr lang="en-US" sz="2000" b="0" i="0" u="none" strike="noStrike" cap="none" dirty="0">
                <a:solidFill>
                  <a:srgbClr val="000000"/>
                </a:solidFill>
                <a:latin typeface="Arial"/>
                <a:ea typeface="Arial"/>
                <a:cs typeface="Arial"/>
                <a:sym typeface="Arial"/>
              </a:rPr>
              <a:t> enables the Interview Trainer Agent to function as an intelligent, autonomous system rather than a simple chatbot. Using </a:t>
            </a:r>
            <a:r>
              <a:rPr lang="en-US" sz="2000" b="1" i="0" u="none" strike="noStrike" cap="none" dirty="0">
                <a:solidFill>
                  <a:srgbClr val="000000"/>
                </a:solidFill>
                <a:latin typeface="Arial"/>
                <a:ea typeface="Arial"/>
                <a:cs typeface="Arial"/>
                <a:sym typeface="Arial"/>
              </a:rPr>
              <a:t>IBM watsonx.ai</a:t>
            </a:r>
            <a:r>
              <a:rPr lang="en-US" sz="2000" b="0" i="0" u="none" strike="noStrike" cap="none" dirty="0">
                <a:solidFill>
                  <a:srgbClr val="000000"/>
                </a:solidFill>
                <a:latin typeface="Arial"/>
                <a:ea typeface="Arial"/>
                <a:cs typeface="Arial"/>
                <a:sym typeface="Arial"/>
              </a:rPr>
              <a:t> and </a:t>
            </a:r>
            <a:r>
              <a:rPr lang="en-US" sz="2000" b="1" i="0" u="none" strike="noStrike" cap="none" dirty="0">
                <a:solidFill>
                  <a:srgbClr val="000000"/>
                </a:solidFill>
                <a:latin typeface="Arial"/>
                <a:ea typeface="Arial"/>
                <a:cs typeface="Arial"/>
                <a:sym typeface="Arial"/>
              </a:rPr>
              <a:t>IBM Granite models</a:t>
            </a:r>
            <a:r>
              <a:rPr lang="en-US" sz="2000" b="0" i="0" u="none" strike="noStrike" cap="none" dirty="0">
                <a:solidFill>
                  <a:srgbClr val="000000"/>
                </a:solidFill>
                <a:latin typeface="Arial"/>
                <a:ea typeface="Arial"/>
                <a:cs typeface="Arial"/>
                <a:sym typeface="Arial"/>
              </a:rPr>
              <a:t>, it coordinates multiple specialized agents to deliver personalized interview coaching.</a:t>
            </a:r>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Each agent performs a specific role—such as retrieving role-specific questions, analyzing the resume, conducting mock Q&amp;A, and scoring responses—while working collaboratively. This </a:t>
            </a:r>
            <a:r>
              <a:rPr lang="en-US" sz="2000" b="1" i="0" u="none" strike="noStrike" cap="none" dirty="0">
                <a:solidFill>
                  <a:srgbClr val="000000"/>
                </a:solidFill>
                <a:latin typeface="Arial"/>
                <a:ea typeface="Arial"/>
                <a:cs typeface="Arial"/>
                <a:sym typeface="Arial"/>
              </a:rPr>
              <a:t>multi-agent approach</a:t>
            </a:r>
            <a:r>
              <a:rPr lang="en-US" sz="2000" b="0" i="0" u="none" strike="noStrike" cap="none" dirty="0">
                <a:solidFill>
                  <a:srgbClr val="000000"/>
                </a:solidFill>
                <a:latin typeface="Arial"/>
                <a:ea typeface="Arial"/>
                <a:cs typeface="Arial"/>
                <a:sym typeface="Arial"/>
              </a:rPr>
              <a:t> ensures efficient task execution and accurate results.</a:t>
            </a:r>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Agentic AI also brings </a:t>
            </a:r>
            <a:r>
              <a:rPr lang="en-US" sz="2000" b="1" i="0" u="none" strike="noStrike" cap="none" dirty="0">
                <a:solidFill>
                  <a:srgbClr val="000000"/>
                </a:solidFill>
                <a:latin typeface="Arial"/>
                <a:ea typeface="Arial"/>
                <a:cs typeface="Arial"/>
                <a:sym typeface="Arial"/>
              </a:rPr>
              <a:t>context awareness</a:t>
            </a:r>
            <a:r>
              <a:rPr lang="en-US" sz="2000" b="0" i="0" u="none" strike="noStrike" cap="none" dirty="0">
                <a:solidFill>
                  <a:srgbClr val="000000"/>
                </a:solidFill>
                <a:latin typeface="Arial"/>
                <a:ea typeface="Arial"/>
                <a:cs typeface="Arial"/>
                <a:sym typeface="Arial"/>
              </a:rPr>
              <a:t>, understanding user details like target role, experience level, and resume background to generate tailored questions. It supports </a:t>
            </a:r>
            <a:r>
              <a:rPr lang="en-US" sz="2000" b="1" i="0" u="none" strike="noStrike" cap="none" dirty="0">
                <a:solidFill>
                  <a:srgbClr val="000000"/>
                </a:solidFill>
                <a:latin typeface="Arial"/>
                <a:ea typeface="Arial"/>
                <a:cs typeface="Arial"/>
                <a:sym typeface="Arial"/>
              </a:rPr>
              <a:t>real-time adaptation</a:t>
            </a:r>
            <a:r>
              <a:rPr lang="en-US" sz="2000" b="0" i="0" u="none" strike="noStrike" cap="none" dirty="0">
                <a:solidFill>
                  <a:srgbClr val="000000"/>
                </a:solidFill>
                <a:latin typeface="Arial"/>
                <a:ea typeface="Arial"/>
                <a:cs typeface="Arial"/>
                <a:sym typeface="Arial"/>
              </a:rPr>
              <a:t>, continuously updating questions and feedback based on the candidate's ongoing mock-interview performance.</a:t>
            </a:r>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Additionally, agents communicate with each other, enabling better decision-making and improved outcomes.</a:t>
            </a:r>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Overall, Agentic AI makes the system proactive, personalized, and goal-driven, acting like a </a:t>
            </a:r>
            <a:r>
              <a:rPr lang="en-US" sz="2000" b="1" i="0" u="none" strike="noStrike" cap="none" dirty="0">
                <a:solidFill>
                  <a:srgbClr val="000000"/>
                </a:solidFill>
                <a:latin typeface="Arial"/>
                <a:ea typeface="Arial"/>
                <a:cs typeface="Arial"/>
                <a:sym typeface="Arial"/>
              </a:rPr>
              <a:t>smart digital interview coach</a:t>
            </a:r>
            <a:r>
              <a:rPr lang="en-US" sz="2000" b="0" i="0" u="none" strike="noStrike" cap="none" dirty="0">
                <a:solidFill>
                  <a:srgbClr val="000000"/>
                </a:solidFill>
                <a:latin typeface="Arial"/>
                <a:ea typeface="Arial"/>
                <a:cs typeface="Arial"/>
                <a:sym typeface="Arial"/>
              </a:rPr>
              <a:t> that helps candidates walk into real interviews confident and well-prepared.</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466763" y="203515"/>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800" b="1" i="0" u="none" strike="noStrike" cap="none" dirty="0">
                <a:solidFill>
                  <a:srgbClr val="000000"/>
                </a:solidFill>
                <a:latin typeface="Arial"/>
                <a:ea typeface="Arial"/>
                <a:cs typeface="Arial"/>
                <a:sym typeface="Arial"/>
              </a:rPr>
              <a:t>Token Usage </a:t>
            </a:r>
            <a:endParaRPr sz="2400" b="1" i="0" u="none" strike="noStrike" cap="none" dirty="0">
              <a:solidFill>
                <a:srgbClr val="000000"/>
              </a:solidFill>
              <a:latin typeface="Arial"/>
              <a:ea typeface="Arial"/>
              <a:cs typeface="Arial"/>
              <a:sym typeface="Arial"/>
            </a:endParaRPr>
          </a:p>
        </p:txBody>
      </p:sp>
      <p:sp>
        <p:nvSpPr>
          <p:cNvPr id="148" name="Google Shape;148;p39"/>
          <p:cNvSpPr txBox="1"/>
          <p:nvPr/>
        </p:nvSpPr>
        <p:spPr>
          <a:xfrm>
            <a:off x="466763" y="958876"/>
            <a:ext cx="6444496" cy="7078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Before: 0 tokens (fresh session)  </a:t>
            </a:r>
          </a:p>
          <a:p>
            <a:pPr marL="0" marR="0" lvl="0" indent="0" algn="l"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After: </a:t>
            </a:r>
            <a:r>
              <a:rPr lang="en-US" sz="2000" dirty="0"/>
              <a:t>5,769</a:t>
            </a:r>
            <a:r>
              <a:rPr lang="en-US" sz="2000" b="0" i="0" u="none" strike="noStrike" cap="none" dirty="0">
                <a:solidFill>
                  <a:srgbClr val="000000"/>
                </a:solidFill>
                <a:latin typeface="Arial"/>
                <a:ea typeface="Arial"/>
                <a:cs typeface="Arial"/>
                <a:sym typeface="Arial"/>
              </a:rPr>
              <a:t> tokens </a:t>
            </a:r>
            <a:endParaRPr dirty="0"/>
          </a:p>
        </p:txBody>
      </p:sp>
      <p:sp>
        <p:nvSpPr>
          <p:cNvPr id="151" name="Google Shape;151;p39"/>
          <p:cNvSpPr txBox="1"/>
          <p:nvPr/>
        </p:nvSpPr>
        <p:spPr>
          <a:xfrm>
            <a:off x="466763" y="1893504"/>
            <a:ext cx="5400223"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sng" strike="noStrike" cap="none" dirty="0">
                <a:solidFill>
                  <a:srgbClr val="000000"/>
                </a:solidFill>
                <a:latin typeface="Arial"/>
                <a:ea typeface="Arial"/>
                <a:cs typeface="Arial"/>
                <a:sym typeface="Arial"/>
              </a:rPr>
              <a:t>Before Prompt</a:t>
            </a:r>
            <a:endParaRPr dirty="0"/>
          </a:p>
        </p:txBody>
      </p:sp>
      <p:sp>
        <p:nvSpPr>
          <p:cNvPr id="152" name="Google Shape;152;p39"/>
          <p:cNvSpPr txBox="1"/>
          <p:nvPr/>
        </p:nvSpPr>
        <p:spPr>
          <a:xfrm>
            <a:off x="6325015" y="1893504"/>
            <a:ext cx="5400222"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0" i="0" u="sng" strike="noStrike" cap="none" dirty="0">
                <a:solidFill>
                  <a:srgbClr val="000000"/>
                </a:solidFill>
                <a:latin typeface="Arial"/>
                <a:ea typeface="Arial"/>
                <a:cs typeface="Arial"/>
                <a:sym typeface="Arial"/>
              </a:rPr>
              <a:t>After the Prompt</a:t>
            </a:r>
            <a:endParaRPr dirty="0"/>
          </a:p>
        </p:txBody>
      </p:sp>
      <p:grpSp>
        <p:nvGrpSpPr>
          <p:cNvPr id="6" name="Group 5">
            <a:extLst>
              <a:ext uri="{FF2B5EF4-FFF2-40B4-BE49-F238E27FC236}">
                <a16:creationId xmlns:a16="http://schemas.microsoft.com/office/drawing/2014/main" id="{AED655BF-A3CE-D315-DEB3-891BFB6B40AD}"/>
              </a:ext>
            </a:extLst>
          </p:cNvPr>
          <p:cNvGrpSpPr/>
          <p:nvPr/>
        </p:nvGrpSpPr>
        <p:grpSpPr>
          <a:xfrm>
            <a:off x="466763" y="2453832"/>
            <a:ext cx="11258474" cy="4201609"/>
            <a:chOff x="466763" y="2781725"/>
            <a:chExt cx="11258474" cy="3032012"/>
          </a:xfrm>
        </p:grpSpPr>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a:solidFill>
                    <a:srgbClr val="2B3541"/>
                  </a:solidFill>
                  <a:latin typeface="Arial"/>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a:solidFill>
                    <a:srgbClr val="2B3541"/>
                  </a:solidFill>
                  <a:latin typeface="Arial"/>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a:solidFill>
                    <a:srgbClr val="2B3541"/>
                  </a:solidFill>
                  <a:latin typeface="Arial"/>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DD6D29B-7F9F-EF01-B845-B8AF1C0E3135}"/>
                </a:ext>
              </a:extLst>
            </p:cNvPr>
            <p:cNvPicPr>
              <a:picLocks noChangeAspect="1"/>
            </p:cNvPicPr>
            <p:nvPr/>
          </p:nvPicPr>
          <p:blipFill>
            <a:blip r:embed="rId3"/>
            <a:stretch>
              <a:fillRect/>
            </a:stretch>
          </p:blipFill>
          <p:spPr>
            <a:xfrm>
              <a:off x="466763" y="2781726"/>
              <a:ext cx="5400223" cy="2840499"/>
            </a:xfrm>
            <a:prstGeom prst="rect">
              <a:avLst/>
            </a:prstGeom>
          </p:spPr>
        </p:pic>
        <p:pic>
          <p:nvPicPr>
            <p:cNvPr id="5" name="Picture 4">
              <a:extLst>
                <a:ext uri="{FF2B5EF4-FFF2-40B4-BE49-F238E27FC236}">
                  <a16:creationId xmlns:a16="http://schemas.microsoft.com/office/drawing/2014/main" id="{D9733582-80CB-9848-7E6D-0E433186A2DF}"/>
                </a:ext>
              </a:extLst>
            </p:cNvPr>
            <p:cNvPicPr>
              <a:picLocks noChangeAspect="1"/>
            </p:cNvPicPr>
            <p:nvPr/>
          </p:nvPicPr>
          <p:blipFill>
            <a:blip r:embed="rId4"/>
            <a:stretch>
              <a:fillRect/>
            </a:stretch>
          </p:blipFill>
          <p:spPr>
            <a:xfrm>
              <a:off x="6325015" y="2781725"/>
              <a:ext cx="5400222" cy="2840500"/>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292164" y="311011"/>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292164" y="990818"/>
            <a:ext cx="11607671" cy="578615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The proposed Interview Trainer Agent stands out by combining </a:t>
            </a:r>
            <a:r>
              <a:rPr lang="en-US" sz="2000" b="1" i="0" u="none" strike="noStrike" cap="none" dirty="0">
                <a:solidFill>
                  <a:srgbClr val="000000"/>
                </a:solidFill>
                <a:latin typeface="Arial"/>
                <a:ea typeface="Arial"/>
                <a:cs typeface="Arial"/>
                <a:sym typeface="Arial"/>
              </a:rPr>
              <a:t>Agentic AI, RAG, and personalization</a:t>
            </a:r>
            <a:r>
              <a:rPr lang="en-US" sz="2000" b="0" i="0" u="none" strike="noStrike" cap="none" dirty="0">
                <a:solidFill>
                  <a:srgbClr val="000000"/>
                </a:solidFill>
                <a:latin typeface="Arial"/>
                <a:ea typeface="Arial"/>
                <a:cs typeface="Arial"/>
                <a:sym typeface="Arial"/>
              </a:rPr>
              <a:t> into a single intelligent system.</a:t>
            </a:r>
            <a:endParaRPr lang="en-US" dirty="0"/>
          </a:p>
          <a:p>
            <a:pPr marL="0" marR="0" lvl="0" indent="0" algn="just"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Multi-Agent Intelligence</a:t>
            </a:r>
            <a:r>
              <a:rPr lang="en-US" sz="2000" b="0" i="0" u="none" strike="noStrike" cap="none" dirty="0">
                <a:solidFill>
                  <a:srgbClr val="000000"/>
                </a:solidFill>
                <a:latin typeface="Arial"/>
                <a:ea typeface="Arial"/>
                <a:cs typeface="Arial"/>
                <a:sym typeface="Arial"/>
              </a:rPr>
              <a:t> – Multiple specialized agents collaborate for accurate, role-aware coaching.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RAG-Based Accuracy</a:t>
            </a:r>
            <a:r>
              <a:rPr lang="en-US" sz="2000" b="0" i="0" u="none" strike="noStrike" cap="none" dirty="0">
                <a:solidFill>
                  <a:srgbClr val="000000"/>
                </a:solidFill>
                <a:latin typeface="Arial"/>
                <a:ea typeface="Arial"/>
                <a:cs typeface="Arial"/>
                <a:sym typeface="Arial"/>
              </a:rPr>
              <a:t> – Integrates real-time retrieval with AI generation for trustworthy answers.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Resume-Based Personalization</a:t>
            </a:r>
            <a:r>
              <a:rPr lang="en-US" sz="2000" b="0" i="0" u="none" strike="noStrike" cap="none" dirty="0">
                <a:solidFill>
                  <a:srgbClr val="000000"/>
                </a:solidFill>
                <a:latin typeface="Arial"/>
                <a:ea typeface="Arial"/>
                <a:cs typeface="Arial"/>
                <a:sym typeface="Arial"/>
              </a:rPr>
              <a:t> – Tailors questions and feedback to the candidate's resume, role, and experience.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Real-Time Feedback Loop</a:t>
            </a:r>
            <a:r>
              <a:rPr lang="en-US" sz="2000" b="0" i="0" u="none" strike="noStrike" cap="none" dirty="0">
                <a:solidFill>
                  <a:srgbClr val="000000"/>
                </a:solidFill>
                <a:latin typeface="Arial"/>
                <a:ea typeface="Arial"/>
                <a:cs typeface="Arial"/>
                <a:sym typeface="Arial"/>
              </a:rPr>
              <a:t> – Continuously adapts questions and feedback based on the candidate's ongoing mock-interview performance.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Multi-Modal Input</a:t>
            </a:r>
            <a:r>
              <a:rPr lang="en-US" sz="2000" b="0" i="0" u="none" strike="noStrike" cap="none" dirty="0">
                <a:solidFill>
                  <a:srgbClr val="000000"/>
                </a:solidFill>
                <a:latin typeface="Arial"/>
                <a:ea typeface="Arial"/>
                <a:cs typeface="Arial"/>
                <a:sym typeface="Arial"/>
              </a:rPr>
              <a:t> – Supports technical and behavioral question formats for well-rounded prep.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Placement-Readiness Focus</a:t>
            </a:r>
            <a:r>
              <a:rPr lang="en-US" sz="2000" b="0" i="0" u="none" strike="noStrike" cap="none" dirty="0">
                <a:solidFill>
                  <a:srgbClr val="000000"/>
                </a:solidFill>
                <a:latin typeface="Arial"/>
                <a:ea typeface="Arial"/>
                <a:cs typeface="Arial"/>
                <a:sym typeface="Arial"/>
              </a:rPr>
              <a:t> – Tracks readiness score and progress across multiple mock sessions. </a:t>
            </a:r>
            <a:endParaRPr dirty="0"/>
          </a:p>
          <a:p>
            <a:pPr marL="342900" marR="0" lvl="0" indent="-342900" algn="just" rtl="0">
              <a:lnSpc>
                <a:spcPct val="100000"/>
              </a:lnSpc>
              <a:spcBef>
                <a:spcPts val="0"/>
              </a:spcBef>
              <a:spcAft>
                <a:spcPts val="0"/>
              </a:spcAft>
              <a:buFont typeface="Arial" panose="020B0604020202020204" pitchFamily="34" charset="0"/>
              <a:buChar char="•"/>
            </a:pPr>
            <a:r>
              <a:rPr lang="en-US" sz="2000" b="1" i="0" u="none" strike="noStrike" cap="none" dirty="0">
                <a:solidFill>
                  <a:srgbClr val="000000"/>
                </a:solidFill>
                <a:latin typeface="Arial"/>
                <a:ea typeface="Arial"/>
                <a:cs typeface="Arial"/>
                <a:sym typeface="Arial"/>
              </a:rPr>
              <a:t>Scalable &amp; Enterprise-Ready</a:t>
            </a:r>
            <a:r>
              <a:rPr lang="en-US" sz="2000" b="0" i="0" u="none" strike="noStrike" cap="none" dirty="0">
                <a:solidFill>
                  <a:srgbClr val="000000"/>
                </a:solidFill>
                <a:latin typeface="Arial"/>
                <a:ea typeface="Arial"/>
                <a:cs typeface="Arial"/>
                <a:sym typeface="Arial"/>
              </a:rPr>
              <a:t> – Built on </a:t>
            </a:r>
            <a:r>
              <a:rPr lang="en-US" sz="2000" b="1" i="0" u="none" strike="noStrike" cap="none" dirty="0">
                <a:solidFill>
                  <a:srgbClr val="000000"/>
                </a:solidFill>
                <a:latin typeface="Arial"/>
                <a:ea typeface="Arial"/>
                <a:cs typeface="Arial"/>
                <a:sym typeface="Arial"/>
              </a:rPr>
              <a:t>IBM watsonx.ai</a:t>
            </a:r>
            <a:r>
              <a:rPr lang="en-US" sz="2000" b="0" i="0" u="none" strike="noStrike" cap="none" dirty="0">
                <a:solidFill>
                  <a:srgbClr val="000000"/>
                </a:solidFill>
                <a:latin typeface="Arial"/>
                <a:ea typeface="Arial"/>
                <a:cs typeface="Arial"/>
                <a:sym typeface="Arial"/>
              </a:rPr>
              <a:t> with </a:t>
            </a:r>
            <a:r>
              <a:rPr lang="en-US" sz="2000" b="1" i="0" u="none" strike="noStrike" cap="none" dirty="0">
                <a:solidFill>
                  <a:srgbClr val="000000"/>
                </a:solidFill>
                <a:latin typeface="Arial"/>
                <a:ea typeface="Arial"/>
                <a:cs typeface="Arial"/>
                <a:sym typeface="Arial"/>
              </a:rPr>
              <a:t>IBM Granite models</a:t>
            </a:r>
            <a:r>
              <a:rPr lang="en-US" sz="2000" b="0" i="0" u="none" strike="noStrike" cap="none" dirty="0">
                <a:solidFill>
                  <a:srgbClr val="000000"/>
                </a:solidFill>
                <a:latin typeface="Arial"/>
                <a:ea typeface="Arial"/>
                <a:cs typeface="Arial"/>
                <a:sym typeface="Arial"/>
              </a:rPr>
              <a:t>, ensuring reliability and governance. </a:t>
            </a:r>
            <a:endParaRPr dirty="0"/>
          </a:p>
          <a:p>
            <a:pPr marL="0" marR="0" lvl="0" indent="0" algn="just"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This makes the solution a </a:t>
            </a:r>
            <a:r>
              <a:rPr lang="en-US" sz="2000" b="1" i="0" u="none" strike="noStrike" cap="none" dirty="0">
                <a:solidFill>
                  <a:srgbClr val="000000"/>
                </a:solidFill>
                <a:latin typeface="Arial"/>
                <a:ea typeface="Arial"/>
                <a:cs typeface="Arial"/>
                <a:sym typeface="Arial"/>
              </a:rPr>
              <a:t>smart, adaptive, and proactive digital interview coach</a:t>
            </a:r>
            <a:r>
              <a:rPr lang="en-US" sz="2000" b="0" i="0" u="none" strike="noStrike" cap="none" dirty="0">
                <a:solidFill>
                  <a:srgbClr val="000000"/>
                </a:solidFill>
                <a:latin typeface="Arial"/>
                <a:ea typeface="Arial"/>
                <a:cs typeface="Arial"/>
                <a:sym typeface="Arial"/>
              </a:rPr>
              <a:t>, not just a static question bank.</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285508" y="449908"/>
            <a:ext cx="7324228" cy="52318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Impact, Scalability &amp; Market Viability</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285508" y="1218582"/>
            <a:ext cx="11620983" cy="529375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US" sz="2000" b="0" i="0" u="none" strike="noStrike" cap="none" dirty="0">
                <a:solidFill>
                  <a:srgbClr val="000000"/>
                </a:solidFill>
                <a:latin typeface="Arial"/>
                <a:ea typeface="Arial"/>
                <a:cs typeface="Arial"/>
                <a:sym typeface="Arial"/>
              </a:rPr>
              <a:t>This section maps </a:t>
            </a:r>
            <a:r>
              <a:rPr lang="en-US" sz="2000" b="0" i="0" u="none" strike="noStrike" cap="none" dirty="0" err="1">
                <a:solidFill>
                  <a:srgbClr val="000000"/>
                </a:solidFill>
                <a:latin typeface="Arial"/>
                <a:ea typeface="Arial"/>
                <a:cs typeface="Arial"/>
                <a:sym typeface="Arial"/>
              </a:rPr>
              <a:t>InterviewMate</a:t>
            </a:r>
            <a:r>
              <a:rPr lang="en-US" sz="2000" b="0" i="0" u="none" strike="noStrike" cap="none" dirty="0">
                <a:solidFill>
                  <a:srgbClr val="000000"/>
                </a:solidFill>
                <a:latin typeface="Arial"/>
                <a:ea typeface="Arial"/>
                <a:cs typeface="Arial"/>
                <a:sym typeface="Arial"/>
              </a:rPr>
              <a:t> directly to the IBM </a:t>
            </a:r>
            <a:r>
              <a:rPr lang="en-US" sz="2000" b="0" i="0" u="none" strike="noStrike" cap="none" dirty="0" err="1">
                <a:solidFill>
                  <a:srgbClr val="000000"/>
                </a:solidFill>
                <a:latin typeface="Arial"/>
                <a:ea typeface="Arial"/>
                <a:cs typeface="Arial"/>
                <a:sym typeface="Arial"/>
              </a:rPr>
              <a:t>SkillsBuild</a:t>
            </a:r>
            <a:r>
              <a:rPr lang="en-US" sz="2000" b="0" i="0" u="none" strike="noStrike" cap="none" dirty="0">
                <a:solidFill>
                  <a:srgbClr val="000000"/>
                </a:solidFill>
                <a:latin typeface="Arial"/>
                <a:ea typeface="Arial"/>
                <a:cs typeface="Arial"/>
                <a:sym typeface="Arial"/>
              </a:rPr>
              <a:t> evaluation criteria.</a:t>
            </a:r>
            <a:endParaRPr dirty="0"/>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Appropriate Use of IBM Cloud Platform</a:t>
            </a:r>
            <a:r>
              <a:rPr lang="en-US" sz="2000" b="0" i="0" u="none" strike="noStrike" cap="none" dirty="0">
                <a:solidFill>
                  <a:srgbClr val="000000"/>
                </a:solidFill>
                <a:latin typeface="Arial"/>
                <a:ea typeface="Arial"/>
                <a:cs typeface="Arial"/>
                <a:sym typeface="Arial"/>
              </a:rPr>
              <a:t> – </a:t>
            </a:r>
            <a:r>
              <a:rPr lang="en-US" sz="2000" b="0" i="0" u="none" strike="noStrike" cap="none" dirty="0" err="1">
                <a:solidFill>
                  <a:srgbClr val="000000"/>
                </a:solidFill>
                <a:latin typeface="Arial"/>
                <a:ea typeface="Arial"/>
                <a:cs typeface="Arial"/>
                <a:sym typeface="Arial"/>
              </a:rPr>
              <a:t>Streamlit</a:t>
            </a:r>
            <a:r>
              <a:rPr lang="en-US" sz="2000" b="0" i="0" u="none" strike="noStrike" cap="none" dirty="0">
                <a:solidFill>
                  <a:srgbClr val="000000"/>
                </a:solidFill>
                <a:latin typeface="Arial"/>
                <a:ea typeface="Arial"/>
                <a:cs typeface="Arial"/>
                <a:sym typeface="Arial"/>
              </a:rPr>
              <a:t> calls watsonx.ai directly (Project ID, Region URL, API Key, Model ID); Granite solves the interview-prep gap.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Scalability</a:t>
            </a:r>
            <a:r>
              <a:rPr lang="en-US" sz="2000" b="0" i="0" u="none" strike="noStrike" cap="none" dirty="0">
                <a:solidFill>
                  <a:srgbClr val="000000"/>
                </a:solidFill>
                <a:latin typeface="Arial"/>
                <a:ea typeface="Arial"/>
                <a:cs typeface="Arial"/>
                <a:sym typeface="Arial"/>
              </a:rPr>
              <a:t> – The RAG knowledge store expands with more question banks without retraining, serving one student or an entire placement cell.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Genuineness / Innovativeness</a:t>
            </a:r>
            <a:r>
              <a:rPr lang="en-US" sz="2000" b="0" i="0" u="none" strike="noStrike" cap="none" dirty="0">
                <a:solidFill>
                  <a:srgbClr val="000000"/>
                </a:solidFill>
                <a:latin typeface="Arial"/>
                <a:ea typeface="Arial"/>
                <a:cs typeface="Arial"/>
                <a:sym typeface="Arial"/>
              </a:rPr>
              <a:t> – Combines resume-aware personalization with multi-agent RAG, beyond static question banks.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Benefit to Society</a:t>
            </a:r>
            <a:r>
              <a:rPr lang="en-US" sz="2000" b="0" i="0" u="none" strike="noStrike" cap="none" dirty="0">
                <a:solidFill>
                  <a:srgbClr val="000000"/>
                </a:solidFill>
                <a:latin typeface="Arial"/>
                <a:ea typeface="Arial"/>
                <a:cs typeface="Arial"/>
                <a:sym typeface="Arial"/>
              </a:rPr>
              <a:t> – Gives Tier-2/Tier-3 students without paid coaching a free, always-available way to build confidence.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Readiness for Deployment</a:t>
            </a:r>
            <a:r>
              <a:rPr lang="en-US" sz="2000" b="0" i="0" u="none" strike="noStrike" cap="none" dirty="0">
                <a:solidFill>
                  <a:srgbClr val="000000"/>
                </a:solidFill>
                <a:latin typeface="Arial"/>
                <a:ea typeface="Arial"/>
                <a:cs typeface="Arial"/>
                <a:sym typeface="Arial"/>
              </a:rPr>
              <a:t> – Built and tested end-to-end, deployable free on </a:t>
            </a:r>
            <a:r>
              <a:rPr lang="en-US" sz="2000" b="0" i="0" u="none" strike="noStrike" cap="none" dirty="0" err="1">
                <a:solidFill>
                  <a:srgbClr val="000000"/>
                </a:solidFill>
                <a:latin typeface="Arial"/>
                <a:ea typeface="Arial"/>
                <a:cs typeface="Arial"/>
                <a:sym typeface="Arial"/>
              </a:rPr>
              <a:t>Streamlit</a:t>
            </a:r>
            <a:r>
              <a:rPr lang="en-US" sz="2000" b="0" i="0" u="none" strike="noStrike" cap="none" dirty="0">
                <a:solidFill>
                  <a:srgbClr val="000000"/>
                </a:solidFill>
                <a:latin typeface="Arial"/>
                <a:ea typeface="Arial"/>
                <a:cs typeface="Arial"/>
                <a:sym typeface="Arial"/>
              </a:rPr>
              <a:t> Cloud for a placement cell. </a:t>
            </a: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Commercial and Market Viability</a:t>
            </a:r>
            <a:r>
              <a:rPr lang="en-US" sz="2000" b="0" i="0" u="none" strike="noStrike" cap="none" dirty="0">
                <a:solidFill>
                  <a:srgbClr val="000000"/>
                </a:solidFill>
                <a:latin typeface="Arial"/>
                <a:ea typeface="Arial"/>
                <a:cs typeface="Arial"/>
                <a:sym typeface="Arial"/>
              </a:rPr>
              <a:t> – Freemium model: free for students, paid tiers for colleges and premium question banks for job platforms. </a:t>
            </a:r>
            <a:endParaRPr dirty="0"/>
          </a:p>
          <a:p>
            <a:pPr marL="0" marR="0" lvl="0" indent="0" algn="just" rtl="0">
              <a:lnSpc>
                <a:spcPct val="100000"/>
              </a:lnSpc>
              <a:spcBef>
                <a:spcPts val="0"/>
              </a:spcBef>
              <a:spcAft>
                <a:spcPts val="0"/>
              </a:spcAft>
              <a:buNone/>
            </a:pPr>
            <a:endParaRPr dirty="0"/>
          </a:p>
          <a:p>
            <a:pPr marL="0" marR="0" lvl="0" indent="0" algn="just"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Together, these show </a:t>
            </a:r>
            <a:r>
              <a:rPr lang="en-US" sz="2000" b="1" i="0" u="none" strike="noStrike" cap="none" dirty="0" err="1">
                <a:solidFill>
                  <a:srgbClr val="000000"/>
                </a:solidFill>
                <a:latin typeface="Arial"/>
                <a:ea typeface="Arial"/>
                <a:cs typeface="Arial"/>
                <a:sym typeface="Arial"/>
              </a:rPr>
              <a:t>InterviewMate</a:t>
            </a:r>
            <a:r>
              <a:rPr lang="en-US" sz="2000" b="1" i="0" u="none" strike="noStrike" cap="none" dirty="0">
                <a:solidFill>
                  <a:srgbClr val="000000"/>
                </a:solidFill>
                <a:latin typeface="Arial"/>
                <a:ea typeface="Arial"/>
                <a:cs typeface="Arial"/>
                <a:sym typeface="Arial"/>
              </a:rPr>
              <a:t> is not just a working demo but a deployable, scalable, and socially useful</a:t>
            </a:r>
            <a:r>
              <a:rPr lang="en-US" sz="2000" b="0" i="0" u="none" strike="noStrike" cap="none" dirty="0">
                <a:solidFill>
                  <a:srgbClr val="000000"/>
                </a:solidFill>
                <a:latin typeface="Arial"/>
                <a:ea typeface="Arial"/>
                <a:cs typeface="Arial"/>
                <a:sym typeface="Arial"/>
              </a:rPr>
              <a:t> solution built responsibly on IBM Cloud technology.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802032" y="149141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400" b="1" i="0" u="none" strike="noStrike" cap="none" dirty="0">
              <a:solidFill>
                <a:srgbClr val="000000"/>
              </a:solidFill>
              <a:latin typeface="Arial"/>
              <a:ea typeface="Arial"/>
              <a:cs typeface="Arial"/>
              <a:sym typeface="Arial"/>
            </a:endParaRPr>
          </a:p>
        </p:txBody>
      </p:sp>
      <p:sp>
        <p:nvSpPr>
          <p:cNvPr id="164" name="Google Shape;164;p41"/>
          <p:cNvSpPr/>
          <p:nvPr/>
        </p:nvSpPr>
        <p:spPr>
          <a:xfrm>
            <a:off x="802032" y="2332217"/>
            <a:ext cx="9214580" cy="850817"/>
          </a:xfrm>
          <a:prstGeom prst="rect">
            <a:avLst/>
          </a:prstGeom>
          <a:noFill/>
          <a:ln>
            <a:noFill/>
          </a:ln>
        </p:spPr>
        <p:txBody>
          <a:bodyPr spcFirstLastPara="1" wrap="square" lIns="0" tIns="0" rIns="0" bIns="0" anchor="t" anchorCtr="0">
            <a:noAutofit/>
          </a:bodyPr>
          <a:lstStyle/>
          <a:p>
            <a:pPr marL="457200" lvl="0" indent="-457200">
              <a:lnSpc>
                <a:spcPct val="162162"/>
              </a:lnSpc>
              <a:buClr>
                <a:srgbClr val="2B3541"/>
              </a:buClr>
              <a:buSzPts val="1850"/>
              <a:buFont typeface="Arial" panose="020B0604020202020204" pitchFamily="34" charset="0"/>
              <a:buChar char="•"/>
            </a:pPr>
            <a:endParaRPr sz="2800" b="0" i="0" u="none" strike="noStrike" cap="none" dirty="0">
              <a:solidFill>
                <a:srgbClr val="000000"/>
              </a:solidFill>
              <a:latin typeface="+mj-lt"/>
              <a:ea typeface="Times New Roman"/>
              <a:cs typeface="Times New Roman"/>
              <a:sym typeface="Times New Roman"/>
            </a:endParaRPr>
          </a:p>
        </p:txBody>
      </p:sp>
      <p:sp>
        <p:nvSpPr>
          <p:cNvPr id="3" name="TextBox 2">
            <a:extLst>
              <a:ext uri="{FF2B5EF4-FFF2-40B4-BE49-F238E27FC236}">
                <a16:creationId xmlns:a16="http://schemas.microsoft.com/office/drawing/2014/main" id="{38CE44A9-F4EA-C691-4C8D-D1207E66AD0A}"/>
              </a:ext>
            </a:extLst>
          </p:cNvPr>
          <p:cNvSpPr txBox="1"/>
          <p:nvPr/>
        </p:nvSpPr>
        <p:spPr>
          <a:xfrm>
            <a:off x="802032" y="3794315"/>
            <a:ext cx="6094070" cy="681469"/>
          </a:xfrm>
          <a:prstGeom prst="rect">
            <a:avLst/>
          </a:prstGeom>
          <a:noFill/>
        </p:spPr>
        <p:txBody>
          <a:bodyPr wrap="square">
            <a:spAutoFit/>
          </a:bodyPr>
          <a:lstStyle/>
          <a:p>
            <a:pPr lvl="0">
              <a:lnSpc>
                <a:spcPct val="157142"/>
              </a:lnSpc>
              <a:buClr>
                <a:srgbClr val="051D3A"/>
              </a:buClr>
              <a:buSzPts val="3500"/>
            </a:pPr>
            <a:r>
              <a:rPr lang="en-IN" sz="2800" b="1" dirty="0" err="1"/>
              <a:t>Streamlit</a:t>
            </a:r>
            <a:r>
              <a:rPr lang="en-IN" sz="2800" b="1" dirty="0"/>
              <a:t> Application</a:t>
            </a:r>
            <a:r>
              <a:rPr lang="en-US" sz="2800" b="1" i="0" u="none" strike="noStrike" cap="none" dirty="0">
                <a:solidFill>
                  <a:srgbClr val="000000"/>
                </a:solidFill>
                <a:latin typeface="Arial"/>
                <a:ea typeface="Arial"/>
                <a:cs typeface="Arial"/>
                <a:sym typeface="Arial"/>
              </a:rPr>
              <a:t> Link</a:t>
            </a:r>
          </a:p>
        </p:txBody>
      </p:sp>
      <p:sp>
        <p:nvSpPr>
          <p:cNvPr id="5" name="TextBox 4">
            <a:extLst>
              <a:ext uri="{FF2B5EF4-FFF2-40B4-BE49-F238E27FC236}">
                <a16:creationId xmlns:a16="http://schemas.microsoft.com/office/drawing/2014/main" id="{4BEACF82-90FA-AE73-EE60-8CE6F18E550D}"/>
              </a:ext>
            </a:extLst>
          </p:cNvPr>
          <p:cNvSpPr txBox="1"/>
          <p:nvPr/>
        </p:nvSpPr>
        <p:spPr>
          <a:xfrm>
            <a:off x="802032" y="4851447"/>
            <a:ext cx="10613985" cy="523220"/>
          </a:xfrm>
          <a:prstGeom prst="rect">
            <a:avLst/>
          </a:prstGeom>
          <a:noFill/>
        </p:spPr>
        <p:txBody>
          <a:bodyPr wrap="square">
            <a:spAutoFit/>
          </a:bodyPr>
          <a:lstStyle/>
          <a:p>
            <a:pPr marL="457200" indent="-457200">
              <a:buFont typeface="Arial" panose="020B0604020202020204" pitchFamily="34" charset="0"/>
              <a:buChar char="•"/>
            </a:pPr>
            <a:r>
              <a:rPr lang="en-IN" sz="2800" dirty="0"/>
              <a:t>https://interview-mate-3jnbwasegzzs8dzckcxaws.streamlit.app/</a:t>
            </a:r>
          </a:p>
        </p:txBody>
      </p:sp>
      <p:sp>
        <p:nvSpPr>
          <p:cNvPr id="7" name="TextBox 6">
            <a:extLst>
              <a:ext uri="{FF2B5EF4-FFF2-40B4-BE49-F238E27FC236}">
                <a16:creationId xmlns:a16="http://schemas.microsoft.com/office/drawing/2014/main" id="{A1785F99-264D-09B7-A834-81A5E519C1B2}"/>
              </a:ext>
            </a:extLst>
          </p:cNvPr>
          <p:cNvSpPr txBox="1"/>
          <p:nvPr/>
        </p:nvSpPr>
        <p:spPr>
          <a:xfrm>
            <a:off x="802032" y="2571093"/>
            <a:ext cx="10613985" cy="523220"/>
          </a:xfrm>
          <a:prstGeom prst="rect">
            <a:avLst/>
          </a:prstGeom>
          <a:noFill/>
        </p:spPr>
        <p:txBody>
          <a:bodyPr wrap="square">
            <a:spAutoFit/>
          </a:bodyPr>
          <a:lstStyle/>
          <a:p>
            <a:pPr marL="457200" indent="-457200">
              <a:buFont typeface="Arial" panose="020B0604020202020204" pitchFamily="34" charset="0"/>
              <a:buChar char="•"/>
            </a:pPr>
            <a:r>
              <a:rPr lang="en-IN" sz="2800" dirty="0">
                <a:ea typeface="Times New Roman"/>
                <a:cs typeface="Times New Roman"/>
                <a:sym typeface="Times New Roman"/>
              </a:rPr>
              <a:t>https://github.com/PreetiGautam23/Interview-Mate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558967" y="54207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558967" y="1504891"/>
            <a:ext cx="10969418" cy="5636285"/>
          </a:xfrm>
          <a:prstGeom prst="rect">
            <a:avLst/>
          </a:prstGeom>
          <a:noFill/>
          <a:ln>
            <a:noFill/>
          </a:ln>
        </p:spPr>
        <p:txBody>
          <a:bodyPr spcFirstLastPara="1" wrap="square" lIns="0" tIns="0" rIns="0" bIns="0" anchor="t" anchorCtr="0">
            <a:noAutofit/>
          </a:bodyPr>
          <a:lstStyle/>
          <a:p>
            <a:pPr marL="0" marR="0" lvl="0" indent="0" algn="just" rtl="0">
              <a:lnSpc>
                <a:spcPct val="162162"/>
              </a:lnSpc>
              <a:spcBef>
                <a:spcPts val="0"/>
              </a:spcBef>
              <a:spcAft>
                <a:spcPts val="0"/>
              </a:spcAft>
              <a:buClr>
                <a:srgbClr val="2B3541"/>
              </a:buClr>
              <a:buSzPts val="1850"/>
              <a:buFont typeface="Times New Roman"/>
              <a:buNone/>
            </a:pPr>
            <a:r>
              <a:rPr lang="en-US" sz="2000" b="1" i="0" u="none" strike="noStrike" cap="none" dirty="0">
                <a:solidFill>
                  <a:srgbClr val="2B3541"/>
                </a:solidFill>
                <a:latin typeface="Arial"/>
                <a:ea typeface="Times New Roman"/>
                <a:cs typeface="Times New Roman"/>
                <a:sym typeface="Times New Roman"/>
              </a:rPr>
              <a:t>1.Integration with Video &amp; Voice-Based Mock Interviews – </a:t>
            </a:r>
            <a:endParaRPr dirty="0"/>
          </a:p>
          <a:p>
            <a:pPr marL="0" marR="0" lvl="0" indent="0" algn="just"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Arial"/>
                <a:ea typeface="Times New Roman"/>
                <a:cs typeface="Times New Roman"/>
                <a:sym typeface="Times New Roman"/>
              </a:rPr>
              <a:t>The system can be extended with webcam and voice analysis to evaluate body language, tone, and speech clarity during mock interviews. This will enable the Interview Trainer Agent to provide richer, more realistic feedback beyond text-based responses.</a:t>
            </a:r>
          </a:p>
          <a:p>
            <a:pPr marL="0" marR="0" lvl="0" indent="0" algn="just" rtl="0">
              <a:lnSpc>
                <a:spcPct val="162162"/>
              </a:lnSpc>
              <a:spcBef>
                <a:spcPts val="0"/>
              </a:spcBef>
              <a:spcAft>
                <a:spcPts val="0"/>
              </a:spcAft>
              <a:buClr>
                <a:srgbClr val="2B3541"/>
              </a:buClr>
              <a:buSzPts val="1850"/>
              <a:buFont typeface="Times New Roman"/>
              <a:buNone/>
            </a:pPr>
            <a:endParaRPr dirty="0"/>
          </a:p>
          <a:p>
            <a:pPr marL="0" marR="0" lvl="0" indent="0" algn="just" rtl="0">
              <a:lnSpc>
                <a:spcPct val="162162"/>
              </a:lnSpc>
              <a:spcBef>
                <a:spcPts val="0"/>
              </a:spcBef>
              <a:spcAft>
                <a:spcPts val="0"/>
              </a:spcAft>
              <a:buClr>
                <a:srgbClr val="2B3541"/>
              </a:buClr>
              <a:buSzPts val="1850"/>
              <a:buFont typeface="Times New Roman"/>
              <a:buNone/>
            </a:pPr>
            <a:r>
              <a:rPr lang="en-US" sz="2000" b="1" i="0" u="none" strike="noStrike" cap="none" dirty="0">
                <a:solidFill>
                  <a:srgbClr val="2B3541"/>
                </a:solidFill>
                <a:latin typeface="Arial"/>
                <a:ea typeface="Times New Roman"/>
                <a:cs typeface="Times New Roman"/>
                <a:sym typeface="Times New Roman"/>
              </a:rPr>
              <a:t>2.AI-Powered Multilingual &amp; Vernacular Support </a:t>
            </a:r>
            <a:r>
              <a:rPr lang="en-US" sz="2000" b="0" i="0" u="none" strike="noStrike" cap="none" dirty="0">
                <a:solidFill>
                  <a:srgbClr val="2B3541"/>
                </a:solidFill>
                <a:latin typeface="Arial"/>
                <a:ea typeface="Times New Roman"/>
                <a:cs typeface="Times New Roman"/>
                <a:sym typeface="Times New Roman"/>
              </a:rPr>
              <a:t>– </a:t>
            </a:r>
            <a:endParaRPr dirty="0"/>
          </a:p>
          <a:p>
            <a:pPr marL="0" marR="0" lvl="0" indent="0" algn="just"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Arial"/>
                <a:ea typeface="Times New Roman"/>
                <a:cs typeface="Times New Roman"/>
                <a:sym typeface="Times New Roman"/>
              </a:rPr>
              <a:t>Adding support for regional languages will improve accessibility for students from Tier-2/Tier-3 towns and rural backgrounds. Candidates can practice mock interviews and receive feedback in their preferred language, making placement preparation more inclusive.</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nvGrpSpPr>
          <p:cNvPr id="14" name="Group 13">
            <a:extLst>
              <a:ext uri="{FF2B5EF4-FFF2-40B4-BE49-F238E27FC236}">
                <a16:creationId xmlns:a16="http://schemas.microsoft.com/office/drawing/2014/main" id="{8CD465E9-069B-0B17-3BA3-0E4908A0A06C}"/>
              </a:ext>
            </a:extLst>
          </p:cNvPr>
          <p:cNvGrpSpPr/>
          <p:nvPr/>
        </p:nvGrpSpPr>
        <p:grpSpPr>
          <a:xfrm>
            <a:off x="2303070" y="3823101"/>
            <a:ext cx="7745909" cy="2725919"/>
            <a:chOff x="2057946" y="3924700"/>
            <a:chExt cx="7745909" cy="2725919"/>
          </a:xfrm>
        </p:grpSpPr>
        <p:pic>
          <p:nvPicPr>
            <p:cNvPr id="9" name="Picture 8">
              <a:extLst>
                <a:ext uri="{FF2B5EF4-FFF2-40B4-BE49-F238E27FC236}">
                  <a16:creationId xmlns:a16="http://schemas.microsoft.com/office/drawing/2014/main" id="{A9A6AD82-8235-7DAD-1002-BCE2E8E33A9E}"/>
                </a:ext>
              </a:extLst>
            </p:cNvPr>
            <p:cNvPicPr>
              <a:picLocks noChangeAspect="1"/>
            </p:cNvPicPr>
            <p:nvPr/>
          </p:nvPicPr>
          <p:blipFill>
            <a:blip r:embed="rId3"/>
            <a:srcRect l="528"/>
            <a:stretch>
              <a:fillRect/>
            </a:stretch>
          </p:blipFill>
          <p:spPr>
            <a:xfrm>
              <a:off x="2057946" y="3924700"/>
              <a:ext cx="3793221" cy="2725919"/>
            </a:xfrm>
            <a:prstGeom prst="rect">
              <a:avLst/>
            </a:prstGeom>
          </p:spPr>
        </p:pic>
        <p:pic>
          <p:nvPicPr>
            <p:cNvPr id="11" name="Picture 10">
              <a:extLst>
                <a:ext uri="{FF2B5EF4-FFF2-40B4-BE49-F238E27FC236}">
                  <a16:creationId xmlns:a16="http://schemas.microsoft.com/office/drawing/2014/main" id="{80A6097F-DFC3-5EE6-B086-D9E25AF0F670}"/>
                </a:ext>
              </a:extLst>
            </p:cNvPr>
            <p:cNvPicPr>
              <a:picLocks noChangeAspect="1"/>
            </p:cNvPicPr>
            <p:nvPr/>
          </p:nvPicPr>
          <p:blipFill>
            <a:blip r:embed="rId4"/>
            <a:stretch>
              <a:fillRect/>
            </a:stretch>
          </p:blipFill>
          <p:spPr>
            <a:xfrm>
              <a:off x="6010634" y="3924700"/>
              <a:ext cx="3793221" cy="2725919"/>
            </a:xfrm>
            <a:prstGeom prst="rect">
              <a:avLst/>
            </a:prstGeom>
          </p:spPr>
        </p:pic>
      </p:grpSp>
      <p:grpSp>
        <p:nvGrpSpPr>
          <p:cNvPr id="15" name="Group 14">
            <a:extLst>
              <a:ext uri="{FF2B5EF4-FFF2-40B4-BE49-F238E27FC236}">
                <a16:creationId xmlns:a16="http://schemas.microsoft.com/office/drawing/2014/main" id="{EA0ADADC-FE1E-99DA-0CEB-0E07CC2A4727}"/>
              </a:ext>
            </a:extLst>
          </p:cNvPr>
          <p:cNvGrpSpPr/>
          <p:nvPr/>
        </p:nvGrpSpPr>
        <p:grpSpPr>
          <a:xfrm>
            <a:off x="406460" y="884488"/>
            <a:ext cx="11538545" cy="2725920"/>
            <a:chOff x="341402" y="884487"/>
            <a:chExt cx="11538545" cy="2725920"/>
          </a:xfrm>
        </p:grpSpPr>
        <p:pic>
          <p:nvPicPr>
            <p:cNvPr id="3" name="Picture 2">
              <a:extLst>
                <a:ext uri="{FF2B5EF4-FFF2-40B4-BE49-F238E27FC236}">
                  <a16:creationId xmlns:a16="http://schemas.microsoft.com/office/drawing/2014/main" id="{0A6D221E-848B-D485-3C34-8DF4C1D0C5F1}"/>
                </a:ext>
              </a:extLst>
            </p:cNvPr>
            <p:cNvPicPr>
              <a:picLocks noChangeAspect="1"/>
            </p:cNvPicPr>
            <p:nvPr/>
          </p:nvPicPr>
          <p:blipFill>
            <a:blip r:embed="rId5"/>
            <a:stretch>
              <a:fillRect/>
            </a:stretch>
          </p:blipFill>
          <p:spPr>
            <a:xfrm>
              <a:off x="341402" y="884488"/>
              <a:ext cx="3793221" cy="2725919"/>
            </a:xfrm>
            <a:prstGeom prst="rect">
              <a:avLst/>
            </a:prstGeom>
          </p:spPr>
        </p:pic>
        <p:pic>
          <p:nvPicPr>
            <p:cNvPr id="5" name="Picture 4">
              <a:extLst>
                <a:ext uri="{FF2B5EF4-FFF2-40B4-BE49-F238E27FC236}">
                  <a16:creationId xmlns:a16="http://schemas.microsoft.com/office/drawing/2014/main" id="{6644CD6F-6E8A-4B1F-951F-EA47590F1EC6}"/>
                </a:ext>
              </a:extLst>
            </p:cNvPr>
            <p:cNvPicPr>
              <a:picLocks noChangeAspect="1"/>
            </p:cNvPicPr>
            <p:nvPr/>
          </p:nvPicPr>
          <p:blipFill>
            <a:blip r:embed="rId6"/>
            <a:stretch>
              <a:fillRect/>
            </a:stretch>
          </p:blipFill>
          <p:spPr>
            <a:xfrm>
              <a:off x="8086726" y="884487"/>
              <a:ext cx="3793221" cy="2725919"/>
            </a:xfrm>
            <a:prstGeom prst="rect">
              <a:avLst/>
            </a:prstGeom>
          </p:spPr>
        </p:pic>
        <p:pic>
          <p:nvPicPr>
            <p:cNvPr id="13" name="Picture 12">
              <a:extLst>
                <a:ext uri="{FF2B5EF4-FFF2-40B4-BE49-F238E27FC236}">
                  <a16:creationId xmlns:a16="http://schemas.microsoft.com/office/drawing/2014/main" id="{524437CE-E5A2-DC5A-C136-8899389D04BE}"/>
                </a:ext>
              </a:extLst>
            </p:cNvPr>
            <p:cNvPicPr>
              <a:picLocks noChangeAspect="1"/>
            </p:cNvPicPr>
            <p:nvPr/>
          </p:nvPicPr>
          <p:blipFill>
            <a:blip r:embed="rId7"/>
            <a:stretch>
              <a:fillRect/>
            </a:stretch>
          </p:blipFill>
          <p:spPr>
            <a:xfrm>
              <a:off x="4214064" y="884488"/>
              <a:ext cx="3793221" cy="2725919"/>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r>
              <a:rPr lang="en-US" sz="28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90" name="Google Shape;190;p44"/>
          <p:cNvSpPr txBox="1"/>
          <p:nvPr/>
        </p:nvSpPr>
        <p:spPr>
          <a:xfrm>
            <a:off x="347241" y="800470"/>
            <a:ext cx="558728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5" name="Picture 4">
            <a:extLst>
              <a:ext uri="{FF2B5EF4-FFF2-40B4-BE49-F238E27FC236}">
                <a16:creationId xmlns:a16="http://schemas.microsoft.com/office/drawing/2014/main" id="{DAC8CB58-5E9B-B2DA-0952-4242546E6171}"/>
              </a:ext>
            </a:extLst>
          </p:cNvPr>
          <p:cNvPicPr>
            <a:picLocks noChangeAspect="1"/>
          </p:cNvPicPr>
          <p:nvPr/>
        </p:nvPicPr>
        <p:blipFill>
          <a:blip r:embed="rId3"/>
          <a:stretch>
            <a:fillRect/>
          </a:stretch>
        </p:blipFill>
        <p:spPr>
          <a:xfrm>
            <a:off x="1460064" y="1349242"/>
            <a:ext cx="9625263" cy="510187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1409</Words>
  <Application>Microsoft Office PowerPoint</Application>
  <PresentationFormat>Widescreen</PresentationFormat>
  <Paragraphs>149</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Preeti Gautam</cp:lastModifiedBy>
  <cp:revision>27</cp:revision>
  <dcterms:created xsi:type="dcterms:W3CDTF">2025-07-08T05:06:56Z</dcterms:created>
  <dcterms:modified xsi:type="dcterms:W3CDTF">2026-07-12T17:05:00Z</dcterms:modified>
</cp:coreProperties>
</file>